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861b32c4db4be5" /><Relationship Type="http://schemas.openxmlformats.org/officeDocument/2006/relationships/extended-properties" Target="/docProps/app.xml" Id="Re0919c3f9959417a" /><Relationship Type="http://schemas.openxmlformats.org/officeDocument/2006/relationships/officeDocument" Target="/ppt/presentation.xml" Id="Rdf42c2481e0a425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9e468478be4864"/>
  </p:sldMasterIdLst>
  <p:notesMasterIdLst>
    <p:notesMasterId xmlns:r="http://schemas.openxmlformats.org/officeDocument/2006/relationships" r:id="R4ca6bd3af7484f81"/>
  </p:notesMasterIdLst>
  <p:sldIdLst>
    <p:sldId xmlns:r="http://schemas.openxmlformats.org/officeDocument/2006/relationships" id="256" r:id="Rd0bf93725e7a4f10"/>
    <p:sldId xmlns:r="http://schemas.openxmlformats.org/officeDocument/2006/relationships" id="257" r:id="R952e735472c14552"/>
    <p:sldId xmlns:r="http://schemas.openxmlformats.org/officeDocument/2006/relationships" id="258" r:id="Rca8ee887a75a42c5"/>
    <p:sldId xmlns:r="http://schemas.openxmlformats.org/officeDocument/2006/relationships" id="259" r:id="Ra574c132cc2e4286"/>
    <p:sldId xmlns:r="http://schemas.openxmlformats.org/officeDocument/2006/relationships" id="260" r:id="R01213394fa0844df"/>
    <p:sldId xmlns:r="http://schemas.openxmlformats.org/officeDocument/2006/relationships" id="261" r:id="R28c9d5dc883d42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950086287c4a80" /><Relationship Type="http://schemas.openxmlformats.org/officeDocument/2006/relationships/slideMaster" Target="/ppt/slideMasters/slideMaster1.xml" Id="R939e468478be4864" /><Relationship Type="http://schemas.openxmlformats.org/officeDocument/2006/relationships/notesMaster" Target="/ppt/notesMasters/notesMaster1.xml" Id="R4ca6bd3af7484f81" /><Relationship Type="http://schemas.openxmlformats.org/officeDocument/2006/relationships/presProps" Target="/ppt/presProps.xml" Id="R8ebb2a265f7243b9" /><Relationship Type="http://schemas.openxmlformats.org/officeDocument/2006/relationships/tableStyles" Target="/ppt/tableStyles.xml" Id="R185a2b1f04c84ad7" /><Relationship Type="http://schemas.openxmlformats.org/officeDocument/2006/relationships/slide" Target="/ppt/slides/slide1.xml" Id="Rd0bf93725e7a4f10" /><Relationship Type="http://schemas.openxmlformats.org/officeDocument/2006/relationships/slide" Target="/ppt/slides/slide2.xml" Id="R952e735472c14552" /><Relationship Type="http://schemas.openxmlformats.org/officeDocument/2006/relationships/slide" Target="/ppt/slides/slide3.xml" Id="Rca8ee887a75a42c5" /><Relationship Type="http://schemas.openxmlformats.org/officeDocument/2006/relationships/slide" Target="/ppt/slides/slide4.xml" Id="Ra574c132cc2e4286" /><Relationship Type="http://schemas.openxmlformats.org/officeDocument/2006/relationships/slide" Target="/ppt/slides/slide5.xml" Id="R01213394fa0844df" /><Relationship Type="http://schemas.openxmlformats.org/officeDocument/2006/relationships/slide" Target="/ppt/slides/slide6.xml" Id="R28c9d5dc883d42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16295c78ee4a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681d1609994223" /><Relationship Type="http://schemas.openxmlformats.org/officeDocument/2006/relationships/notesMaster" Target="/ppt/notesMasters/notesMaster1.xml" Id="Rf3efeac4388447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21862beb4248b1" /><Relationship Type="http://schemas.openxmlformats.org/officeDocument/2006/relationships/notesMaster" Target="/ppt/notesMasters/notesMaster1.xml" Id="Rba463c52f095416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037da0c3de4bd3" /><Relationship Type="http://schemas.openxmlformats.org/officeDocument/2006/relationships/notesMaster" Target="/ppt/notesMasters/notesMaster1.xml" Id="R0af8ffd8944b4d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7c0c03e461447f" /><Relationship Type="http://schemas.openxmlformats.org/officeDocument/2006/relationships/notesMaster" Target="/ppt/notesMasters/notesMaster1.xml" Id="R23b912ccbb7741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af2dcfcd04440f" /><Relationship Type="http://schemas.openxmlformats.org/officeDocument/2006/relationships/notesMaster" Target="/ppt/notesMasters/notesMaster1.xml" Id="Rfbf53bf0317c49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7866fc9ee64be6" /><Relationship Type="http://schemas.openxmlformats.org/officeDocument/2006/relationships/notesMaster" Target="/ppt/notesMasters/notesMaster1.xml" Id="R56df3d859f2e47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product boundary: this is an autonomous paper-trading agent, but the model never owns position sizing or risk limits.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Hackathon: https://lablab.ai/ai-hackathons/alpaca-ai-trading-agents-hackathon</a:t>
            </a:r>
          </a:p>
          <a:p xmlns:a="http://schemas.openxmlformats.org/drawingml/2006/main">
            <a:r>
              <a:t>- Cover visual: OpenAI built-in image generation; prompt recorded in docs/assets/cover-prompt.txt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strategy in plain language. Avoid claiming that short volatility is automatically profitable; the product contribution is bounded, auditable autonomy.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Inspiration video: https://www.youtube.com/watch?v=PM1JE3QbsjA</a:t>
            </a:r>
          </a:p>
          <a:p xmlns:a="http://schemas.openxmlformats.org/drawingml/2006/main">
            <a:r>
              <a:t>- Project strategy and controls: repository README and docs/PRD.md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establishes why ThetaTrap is an agent: the model must use tools and make a decision. The policy boundary is intentionally outside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Alpaca MCP server: https://github.com/alpacahq/alpaca-mcp-server</a:t>
            </a:r>
          </a:p>
          <a:p xmlns:a="http://schemas.openxmlformats.org/drawingml/2006/main">
            <a:r>
              <a:t>- Qwen3-Coder-Next: https://featherless.ai/models/Qwen/Qwen3-Coder-Next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the system may produce no trade. That is a valid safety outcome, not a software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Risk policy and authorization implementation: repository src/thetatrap/policy.py and src/thetatrap/storage.py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screenshot is the live, disarmed competition baseline captured on August 31, 2026. State the actual competition result verbally only after broker reconciliation.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dashboard: https://104-236-77-186.sslip.io/</a:t>
            </a:r>
          </a:p>
          <a:p xmlns:a="http://schemas.openxmlformats.org/drawingml/2006/main">
            <a:r>
              <a:t>- Event timing: linked first-party investor-relations sources in config/events.yaml</a:t>
            </a:r>
          </a:p>
          <a:p xmlns:a="http://schemas.openxmlformats.org/drawingml/2006/main">
            <a:r>
              <a:t>- Weekly expirations: https://www.cboe.com/available_weeklys/</a:t>
            </a:r>
          </a:p>
          <a:p xmlns:a="http://schemas.openxmlformats.org/drawingml/2006/main">
            <a:r>
              <a:t>- BLS September schedule: https://www.bls.gov/schedule/2026/09_sched_list.htm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tying future model sophistication back to the invariant: improved forecasts never weaken account, sizing or lifecycle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roadmap and limitations: repository README and docs/PRD.md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3f0cd4f9d47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714ec0678a4762" /><Relationship Type="http://schemas.openxmlformats.org/officeDocument/2006/relationships/slideLayout" Target="/ppt/slideLayouts/slideLayout1.xml" Id="Ra770bf5ca42d4c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70bf5ca42d4c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a1f84b2de4034" /><Relationship Type="http://schemas.openxmlformats.org/officeDocument/2006/relationships/image" Target="/ppt/media/image.png" Id="R2b6ada7915454078" /><Relationship Type="http://schemas.openxmlformats.org/officeDocument/2006/relationships/notesSlide" Target="/ppt/notesSlides/notesSlide1.xml" Id="Re17f9dfe7d7342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1c98c42e740d9" /><Relationship Type="http://schemas.openxmlformats.org/officeDocument/2006/relationships/notesSlide" Target="/ppt/notesSlides/notesSlide2.xml" Id="Rb87f82cc53ad43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972c3b583418e" /><Relationship Type="http://schemas.openxmlformats.org/officeDocument/2006/relationships/notesSlide" Target="/ppt/notesSlides/notesSlide3.xml" Id="Rc24f90b47c6741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4dfff194e8484a" /><Relationship Type="http://schemas.openxmlformats.org/officeDocument/2006/relationships/notesSlide" Target="/ppt/notesSlides/notesSlide4.xml" Id="R67b41eaaf3fc49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25bc5f23d40de" /><Relationship Type="http://schemas.openxmlformats.org/officeDocument/2006/relationships/image" Target="/ppt/media/image2.png" Id="Re3ae7e35873d45fb" /><Relationship Type="http://schemas.openxmlformats.org/officeDocument/2006/relationships/notesSlide" Target="/ppt/notesSlides/notesSlide5.xml" Id="R9ceca7f2d5a344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b30516ff04989" /><Relationship Type="http://schemas.openxmlformats.org/officeDocument/2006/relationships/notesSlide" Target="/ppt/notesSlides/notesSlide6.xml" Id="R2d56af81947648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8B7D1CFE-7EC8-4018-9164-727B8D74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ALPACA AI TRADING AGENTS HACKATHON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FD901A4-43B6-4C52-9A26-CFB1D5E2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ThetaTrap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130F083-1867-42E8-91EA-7FB569FE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 bounded MCP-native</a:t>
            </a:r>
          </a:p>
          <a:p xmlns:a="http://schemas.openxmlformats.org/drawingml/2006/main">
            <a:pPr>
              <a:defRPr sz="28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AI options agent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A34936AF-2410-4024-AC08-775C1A3D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Qwen investigates earnings risk and calls Alpaca's official MCP tools. Deterministic policy keeps every paper order inside fixed limits.</a:t>
            </a:r>
          </a:p>
        </p:txBody>
      </p:sp>
      <p:sp>
        <p:nvSpPr>
          <p:cNvPr id="5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03CC7278-D16C-4E7D-B6CB-3F79AD3B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3A71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3A71A"/>
                </a:solidFill>
                <a:latin typeface="Helvetica Neue"/>
                <a:ea typeface="Helvetica Neue"/>
                <a:cs typeface="Helvetica Neue"/>
              </a:rPr>
              <a:t>PAPER TRADING  /  BASIC INDICATIVE DATA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ada7915454078"/>
          <a:srcRect xmlns:a="http://schemas.openxmlformats.org/drawingml/2006/main" l="26369" t="0" r="2636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19800" y="0"/>
            <a:ext cx="61722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6687BAC-8037-4F1D-AAED-49AB35EA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4908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-2">
            <a:extLst xmlns:a="http://schemas.openxmlformats.org/drawingml/2006/main">
              <a:ext uri="{FF2B5EF4-FFF2-40B4-BE49-F238E27FC236}">
                <a16:creationId xmlns:a16="http://schemas.microsoft.com/office/drawing/2014/main" id="{4222FA86-C55B-4EFC-89B9-3E266EC6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ORIGIN + STRATEGY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6249879B-288F-4D85-A7F2-644FC8C0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The thesis was simple. Safe autonomy was not.</a:t>
            </a:r>
          </a:p>
        </p:txBody>
      </p:sp>
      <p:sp>
        <p:nvSpPr>
          <p:cNvPr id="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C297B402-3BDA-46DD-A0CE-3D09A14D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origin-quote">
            <a:extLst xmlns:a="http://schemas.openxmlformats.org/drawingml/2006/main">
              <a:ext uri="{FF2B5EF4-FFF2-40B4-BE49-F238E27FC236}">
                <a16:creationId xmlns:a16="http://schemas.microsoft.com/office/drawing/2014/main" id="{964EF0F5-DAE7-4018-B257-5D9D4424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4953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 YouTube lesson made me ask:</a:t>
            </a:r>
          </a:p>
          <a:p xmlns:a="http://schemas.openxmlformats.org/drawingml/2006/main">
            <a:pPr>
              <a:defRPr sz="23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can an agent collect elevated earnings premium without betting on direction?</a:t>
            </a:r>
          </a:p>
        </p:txBody>
      </p:sp>
      <p:sp>
        <p:nvSpPr>
          <p:cNvPr id="5" name="origin-learning">
            <a:extLst xmlns:a="http://schemas.openxmlformats.org/drawingml/2006/main">
              <a:ext uri="{FF2B5EF4-FFF2-40B4-BE49-F238E27FC236}">
                <a16:creationId xmlns:a16="http://schemas.microsoft.com/office/drawing/2014/main" id="{23314AD2-A451-4003-8FFF-C7D22673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4953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The hard part was not drawing an iron condor. It was proving the event, liquidity, order state, and exit were safe after timeouts and restarts.</a:t>
            </a:r>
          </a:p>
        </p:txBody>
      </p:sp>
      <p:sp>
        <p:nvSpPr>
          <p:cNvPr id="6" name="step-rule-01">
            <a:extLst xmlns:a="http://schemas.openxmlformats.org/drawingml/2006/main">
              <a:ext uri="{FF2B5EF4-FFF2-40B4-BE49-F238E27FC236}">
                <a16:creationId xmlns:a16="http://schemas.microsoft.com/office/drawing/2014/main" id="{4339E59E-968A-4E00-9261-1B2F999B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7650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C3CC"/>
            </a:solidFill>
            <a:prstDash val="solid"/>
          </a:ln>
        </p:spPr>
      </p:sp>
      <p:sp>
        <p:nvSpPr>
          <p:cNvPr id="7" name="step-num-01">
            <a:extLst xmlns:a="http://schemas.openxmlformats.org/drawingml/2006/main">
              <a:ext uri="{FF2B5EF4-FFF2-40B4-BE49-F238E27FC236}">
                <a16:creationId xmlns:a16="http://schemas.microsoft.com/office/drawing/2014/main" id="{70FD83DB-4F6D-43BF-9DBB-5A37A623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step-title-01">
            <a:extLst xmlns:a="http://schemas.openxmlformats.org/drawingml/2006/main">
              <a:ext uri="{FF2B5EF4-FFF2-40B4-BE49-F238E27FC236}">
                <a16:creationId xmlns:a16="http://schemas.microsoft.com/office/drawing/2014/main" id="{3E42FD95-52DE-4756-8F16-7A25439F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764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Verify</a:t>
            </a:r>
          </a:p>
        </p:txBody>
      </p:sp>
      <p:sp>
        <p:nvSpPr>
          <p:cNvPr id="9" name="step-body-01">
            <a:extLst xmlns:a="http://schemas.openxmlformats.org/drawingml/2006/main">
              <a:ext uri="{FF2B5EF4-FFF2-40B4-BE49-F238E27FC236}">
                <a16:creationId xmlns:a16="http://schemas.microsoft.com/office/drawing/2014/main" id="{5B66E9FF-6763-4500-8B3A-2DC338A3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3219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Use first-party earnings timing and require listed expirations.</a:t>
            </a:r>
          </a:p>
        </p:txBody>
      </p:sp>
      <p:sp>
        <p:nvSpPr>
          <p:cNvPr id="10" name="step-rule-02">
            <a:extLst xmlns:a="http://schemas.openxmlformats.org/drawingml/2006/main">
              <a:ext uri="{FF2B5EF4-FFF2-40B4-BE49-F238E27FC236}">
                <a16:creationId xmlns:a16="http://schemas.microsoft.com/office/drawing/2014/main" id="{6393F61E-7F3D-4ADC-827A-FB2D2469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4330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C3CC"/>
            </a:solidFill>
            <a:prstDash val="solid"/>
          </a:ln>
        </p:spPr>
      </p:sp>
      <p:sp>
        <p:nvSpPr>
          <p:cNvPr id="11" name="step-num-02">
            <a:extLst xmlns:a="http://schemas.openxmlformats.org/drawingml/2006/main">
              <a:ext uri="{FF2B5EF4-FFF2-40B4-BE49-F238E27FC236}">
                <a16:creationId xmlns:a16="http://schemas.microsoft.com/office/drawing/2014/main" id="{C672C3F5-BE71-4F5D-9C57-0EC32D55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62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step-title-02">
            <a:extLst xmlns:a="http://schemas.openxmlformats.org/drawingml/2006/main">
              <a:ext uri="{FF2B5EF4-FFF2-40B4-BE49-F238E27FC236}">
                <a16:creationId xmlns:a16="http://schemas.microsoft.com/office/drawing/2014/main" id="{D4F49AF3-840B-4D34-B4C4-0696ACB0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43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Structure</a:t>
            </a:r>
          </a:p>
        </p:txBody>
      </p:sp>
      <p:sp>
        <p:nvSpPr>
          <p:cNvPr id="13" name="step-body-02">
            <a:extLst xmlns:a="http://schemas.openxmlformats.org/drawingml/2006/main">
              <a:ext uri="{FF2B5EF4-FFF2-40B4-BE49-F238E27FC236}">
                <a16:creationId xmlns:a16="http://schemas.microsoft.com/office/drawing/2014/main" id="{D254A547-95B9-45BE-9CC6-B12CF03B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3219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Sell near-term premium with farther-out wings that cap loss.</a:t>
            </a:r>
          </a:p>
        </p:txBody>
      </p:sp>
      <p:sp>
        <p:nvSpPr>
          <p:cNvPr id="14" name="step-rule-03">
            <a:extLst xmlns:a="http://schemas.openxmlformats.org/drawingml/2006/main">
              <a:ext uri="{FF2B5EF4-FFF2-40B4-BE49-F238E27FC236}">
                <a16:creationId xmlns:a16="http://schemas.microsoft.com/office/drawing/2014/main" id="{82A9624B-9733-4B47-9507-038FCBE9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1010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C3CC"/>
            </a:solidFill>
            <a:prstDash val="solid"/>
          </a:ln>
        </p:spPr>
      </p:sp>
      <p:sp>
        <p:nvSpPr>
          <p:cNvPr id="15" name="step-num-03">
            <a:extLst xmlns:a="http://schemas.openxmlformats.org/drawingml/2006/main">
              <a:ext uri="{FF2B5EF4-FFF2-40B4-BE49-F238E27FC236}">
                <a16:creationId xmlns:a16="http://schemas.microsoft.com/office/drawing/2014/main" id="{60AC0CA4-4EA2-429D-AF75-F8CE1823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8290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step-title-03">
            <a:extLst xmlns:a="http://schemas.openxmlformats.org/drawingml/2006/main">
              <a:ext uri="{FF2B5EF4-FFF2-40B4-BE49-F238E27FC236}">
                <a16:creationId xmlns:a16="http://schemas.microsoft.com/office/drawing/2014/main" id="{2C62E7A4-5768-455D-9267-C72FA86E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Decide</a:t>
            </a:r>
          </a:p>
        </p:txBody>
      </p:sp>
      <p:sp>
        <p:nvSpPr>
          <p:cNvPr id="17" name="step-body-03">
            <a:extLst xmlns:a="http://schemas.openxmlformats.org/drawingml/2006/main">
              <a:ext uri="{FF2B5EF4-FFF2-40B4-BE49-F238E27FC236}">
                <a16:creationId xmlns:a16="http://schemas.microsoft.com/office/drawing/2014/main" id="{626D035E-7393-4583-A457-5274DA565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29050"/>
            <a:ext cx="3219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Let Qwen inspect evidence and approve or veto the candidate.</a:t>
            </a:r>
          </a:p>
        </p:txBody>
      </p:sp>
      <p:sp>
        <p:nvSpPr>
          <p:cNvPr id="18" name="step-rule-04">
            <a:extLst xmlns:a="http://schemas.openxmlformats.org/drawingml/2006/main">
              <a:ext uri="{FF2B5EF4-FFF2-40B4-BE49-F238E27FC236}">
                <a16:creationId xmlns:a16="http://schemas.microsoft.com/office/drawing/2014/main" id="{48C10781-C012-4194-9C73-F86AA910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7690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C3CC"/>
            </a:solidFill>
            <a:prstDash val="solid"/>
          </a:ln>
        </p:spPr>
      </p:sp>
      <p:sp>
        <p:nvSpPr>
          <p:cNvPr id="19" name="step-num-04">
            <a:extLst xmlns:a="http://schemas.openxmlformats.org/drawingml/2006/main">
              <a:ext uri="{FF2B5EF4-FFF2-40B4-BE49-F238E27FC236}">
                <a16:creationId xmlns:a16="http://schemas.microsoft.com/office/drawing/2014/main" id="{892DD53C-4990-4EDF-A317-90AE92E0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958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step-title-04">
            <a:extLst xmlns:a="http://schemas.openxmlformats.org/drawingml/2006/main">
              <a:ext uri="{FF2B5EF4-FFF2-40B4-BE49-F238E27FC236}">
                <a16:creationId xmlns:a16="http://schemas.microsoft.com/office/drawing/2014/main" id="{11FED2C3-DC34-4300-8034-AF9B3404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76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Exit</a:t>
            </a:r>
          </a:p>
        </p:txBody>
      </p:sp>
      <p:sp>
        <p:nvSpPr>
          <p:cNvPr id="21" name="step-body-04">
            <a:extLst xmlns:a="http://schemas.openxmlformats.org/drawingml/2006/main">
              <a:ext uri="{FF2B5EF4-FFF2-40B4-BE49-F238E27FC236}">
                <a16:creationId xmlns:a16="http://schemas.microsoft.com/office/drawing/2014/main" id="{F711894E-1325-4B09-9F6C-E75BD0E4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95850"/>
            <a:ext cx="3219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Reconcile through Alpaca MCP and target a next-morning close.</a:t>
            </a:r>
          </a:p>
        </p:txBody>
      </p:sp>
    </p:spTree>
    <p:extLst>
      <p:ext uri="{BB962C8B-B14F-4D97-AF65-F5344CB8AC3E}">
        <p14:creationId xmlns:p14="http://schemas.microsoft.com/office/powerpoint/2010/main" val="10303283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3">
            <a:extLst xmlns:a="http://schemas.openxmlformats.org/drawingml/2006/main">
              <a:ext uri="{FF2B5EF4-FFF2-40B4-BE49-F238E27FC236}">
                <a16:creationId xmlns:a16="http://schemas.microsoft.com/office/drawing/2014/main" id="{831E3F62-FFD3-4284-AF67-D10E46CCC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AGENT ARCHITECTURE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E742280C-E55A-4F4D-88E2-9063CAD4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The LLM makes the judgment; policy signs the order.</a:t>
            </a:r>
          </a:p>
        </p:txBody>
      </p:sp>
      <p:sp>
        <p:nvSpPr>
          <p:cNvPr id="3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08B971CB-9101-40C1-A241-FDD89C72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architecture-line">
            <a:extLst xmlns:a="http://schemas.openxmlformats.org/drawingml/2006/main">
              <a:ext uri="{FF2B5EF4-FFF2-40B4-BE49-F238E27FC236}">
                <a16:creationId xmlns:a16="http://schemas.microsoft.com/office/drawing/2014/main" id="{C46E2739-40EF-4F8F-8122-DC967302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0400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111F"/>
            </a:solidFill>
            <a:prstDash val="solid"/>
          </a:ln>
        </p:spPr>
      </p:sp>
      <p:sp>
        <p:nvSpPr>
          <p:cNvPr id="5" name="architecture-node-0">
            <a:extLst xmlns:a="http://schemas.openxmlformats.org/drawingml/2006/main">
              <a:ext uri="{FF2B5EF4-FFF2-40B4-BE49-F238E27FC236}">
                <a16:creationId xmlns:a16="http://schemas.microsoft.com/office/drawing/2014/main" id="{BEC55C89-06C7-496D-AE87-1E6FC7E2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solidFill>
              <a:srgbClr val="11B8F2"/>
            </a:solidFill>
            <a:prstDash val="solid"/>
          </a:ln>
        </p:spPr>
      </p:sp>
      <p:sp>
        <p:nvSpPr>
          <p:cNvPr id="6" name="architecture-label-0">
            <a:extLst xmlns:a="http://schemas.openxmlformats.org/drawingml/2006/main">
              <a:ext uri="{FF2B5EF4-FFF2-40B4-BE49-F238E27FC236}">
                <a16:creationId xmlns:a16="http://schemas.microsoft.com/office/drawing/2014/main" id="{A373682F-178E-4E9C-A6D5-411F05D7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OBSERVE</a:t>
            </a:r>
          </a:p>
        </p:txBody>
      </p:sp>
      <p:sp>
        <p:nvSpPr>
          <p:cNvPr id="7" name="architecture-title-0">
            <a:extLst xmlns:a="http://schemas.openxmlformats.org/drawingml/2006/main">
              <a:ext uri="{FF2B5EF4-FFF2-40B4-BE49-F238E27FC236}">
                <a16:creationId xmlns:a16="http://schemas.microsoft.com/office/drawing/2014/main" id="{3503F473-7DE2-4D29-AE03-F5CF2357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MCP reads</a:t>
            </a:r>
          </a:p>
        </p:txBody>
      </p:sp>
      <p:sp>
        <p:nvSpPr>
          <p:cNvPr id="8" name="architecture-body-0">
            <a:extLst xmlns:a="http://schemas.openxmlformats.org/drawingml/2006/main">
              <a:ext uri="{FF2B5EF4-FFF2-40B4-BE49-F238E27FC236}">
                <a16:creationId xmlns:a16="http://schemas.microsoft.com/office/drawing/2014/main" id="{3A08C639-17AC-4398-868B-47412BE4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Verified events, account state, option chains, quotes, news context.</a:t>
            </a:r>
          </a:p>
        </p:txBody>
      </p:sp>
      <p:sp>
        <p:nvSpPr>
          <p:cNvPr id="9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AA4F846E-D2F1-4550-954A-F1EC720C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A71A"/>
          </a:solidFill>
          <a:ln xmlns:a="http://schemas.openxmlformats.org/drawingml/2006/main" w="0">
            <a:solidFill>
              <a:srgbClr val="F3A71A"/>
            </a:solidFill>
            <a:prstDash val="solid"/>
          </a:ln>
        </p:spPr>
      </p:sp>
      <p:sp>
        <p:nvSpPr>
          <p:cNvPr id="10" name="architecture-label-1">
            <a:extLst xmlns:a="http://schemas.openxmlformats.org/drawingml/2006/main">
              <a:ext uri="{FF2B5EF4-FFF2-40B4-BE49-F238E27FC236}">
                <a16:creationId xmlns:a16="http://schemas.microsoft.com/office/drawing/2014/main" id="{976F69E1-63AC-4564-BD95-3A728A4F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DECIDE</a:t>
            </a:r>
          </a:p>
        </p:txBody>
      </p:sp>
      <p:sp>
        <p:nvSpPr>
          <p:cNvPr id="11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5F8FE413-B642-46B0-A216-104D6A2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Qwen tool loop</a:t>
            </a:r>
          </a:p>
        </p:txBody>
      </p:sp>
      <p:sp>
        <p:nvSpPr>
          <p:cNvPr id="12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33F5AD9D-C0B6-4CEC-AFBF-CC4B377F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Calls allowed tools, explains evidence, then proposes or vetoes.</a:t>
            </a:r>
          </a:p>
        </p:txBody>
      </p:sp>
      <p:sp>
        <p:nvSpPr>
          <p:cNvPr id="13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04710B81-424E-4511-922B-04903C0A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solidFill>
              <a:srgbClr val="11B8F2"/>
            </a:solidFill>
            <a:prstDash val="solid"/>
          </a:ln>
        </p:spPr>
      </p:sp>
      <p:sp>
        <p:nvSpPr>
          <p:cNvPr id="14" name="architecture-label-2">
            <a:extLst xmlns:a="http://schemas.openxmlformats.org/drawingml/2006/main">
              <a:ext uri="{FF2B5EF4-FFF2-40B4-BE49-F238E27FC236}">
                <a16:creationId xmlns:a16="http://schemas.microsoft.com/office/drawing/2014/main" id="{54A49E26-DD78-4B1D-AA24-D22936591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28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EXECUTE + RECONCILE</a:t>
            </a:r>
          </a:p>
        </p:txBody>
      </p:sp>
      <p:sp>
        <p:nvSpPr>
          <p:cNvPr id="15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598F27A7-6418-495B-9526-F93227C7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Policy gateway</a:t>
            </a:r>
          </a:p>
        </p:txBody>
      </p:sp>
      <p:sp>
        <p:nvSpPr>
          <p:cNvPr id="16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F4273FAD-F42C-46FF-9F92-40EAF0A1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Fixes legs, quantity and risk; MCP submits; SQLite restores state.</a:t>
            </a:r>
          </a:p>
        </p:txBody>
      </p:sp>
      <p:sp>
        <p:nvSpPr>
          <p:cNvPr id="17" name="boundary-rail">
            <a:extLst xmlns:a="http://schemas.openxmlformats.org/drawingml/2006/main">
              <a:ext uri="{FF2B5EF4-FFF2-40B4-BE49-F238E27FC236}">
                <a16:creationId xmlns:a16="http://schemas.microsoft.com/office/drawing/2014/main" id="{96C5B4E9-7F54-4EF2-ADE7-494E7AD7D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391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undary-copy">
            <a:extLst xmlns:a="http://schemas.openxmlformats.org/drawingml/2006/main">
              <a:ext uri="{FF2B5EF4-FFF2-40B4-BE49-F238E27FC236}">
                <a16:creationId xmlns:a16="http://schemas.microsoft.com/office/drawing/2014/main" id="{64E62DD9-77B9-4693-A8F7-43A58129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9775"/>
            <a:ext cx="1091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Hard boundary: Qwen cannot change the symbol, strikes, quantity, loss cap, account, or authorization date.</a:t>
            </a:r>
          </a:p>
        </p:txBody>
      </p:sp>
    </p:spTree>
    <p:extLst>
      <p:ext uri="{BB962C8B-B14F-4D97-AF65-F5344CB8AC3E}">
        <p14:creationId xmlns:p14="http://schemas.microsoft.com/office/powerpoint/2010/main" val="2696684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eyebrow-4">
            <a:extLst xmlns:a="http://schemas.openxmlformats.org/drawingml/2006/main">
              <a:ext uri="{FF2B5EF4-FFF2-40B4-BE49-F238E27FC236}">
                <a16:creationId xmlns:a16="http://schemas.microsoft.com/office/drawing/2014/main" id="{096A4BA6-43E1-4BAF-8A1D-28585F4C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SAFETY + RELIABILITY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DA3411F-EE3C-412C-BEA5-7345AF60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Autonomy stops where deterministic risk begins.</a:t>
            </a:r>
          </a:p>
        </p:txBody>
      </p:sp>
      <p:sp>
        <p:nvSpPr>
          <p:cNvPr id="3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B15D7723-5790-465C-B291-6A596B7FD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safety-intro">
            <a:extLst xmlns:a="http://schemas.openxmlformats.org/drawingml/2006/main">
              <a:ext uri="{FF2B5EF4-FFF2-40B4-BE49-F238E27FC236}">
                <a16:creationId xmlns:a16="http://schemas.microsoft.com/office/drawing/2014/main" id="{3F862517-9723-4BCC-8688-CE7CC382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1391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Every entry must pass account identity, market schedule, event, data quality, liquidity, pricing, one-shot authorization and broker-flat gates.</a:t>
            </a:r>
          </a:p>
        </p:txBody>
      </p:sp>
      <p:sp>
        <p:nvSpPr>
          <p:cNvPr id="5" name="metric-panel-1">
            <a:extLst xmlns:a="http://schemas.openxmlformats.org/drawingml/2006/main">
              <a:ext uri="{FF2B5EF4-FFF2-40B4-BE49-F238E27FC236}">
                <a16:creationId xmlns:a16="http://schemas.microsoft.com/office/drawing/2014/main" id="{07593434-CB21-4B23-81FD-91CFC636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metric-accent-1">
            <a:extLst xmlns:a="http://schemas.openxmlformats.org/drawingml/2006/main">
              <a:ext uri="{FF2B5EF4-FFF2-40B4-BE49-F238E27FC236}">
                <a16:creationId xmlns:a16="http://schemas.microsoft.com/office/drawing/2014/main" id="{3AE40302-09DB-457A-BEB9-915A12C3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metric-stat-1">
            <a:extLst xmlns:a="http://schemas.openxmlformats.org/drawingml/2006/main">
              <a:ext uri="{FF2B5EF4-FFF2-40B4-BE49-F238E27FC236}">
                <a16:creationId xmlns:a16="http://schemas.microsoft.com/office/drawing/2014/main" id="{FEA0C876-25C3-41DA-88AC-2B1F97B2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$500</a:t>
            </a:r>
          </a:p>
        </p:txBody>
      </p:sp>
      <p:sp>
        <p:nvSpPr>
          <p:cNvPr id="8" name="metric-label-1">
            <a:extLst xmlns:a="http://schemas.openxmlformats.org/drawingml/2006/main">
              <a:ext uri="{FF2B5EF4-FFF2-40B4-BE49-F238E27FC236}">
                <a16:creationId xmlns:a16="http://schemas.microsoft.com/office/drawing/2014/main" id="{5C186A85-07AC-4595-A5F8-32B3C166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Maximum loss</a:t>
            </a:r>
          </a:p>
        </p:txBody>
      </p:sp>
      <p:sp>
        <p:nvSpPr>
          <p:cNvPr id="9" name="metric-detail-1">
            <a:extLst xmlns:a="http://schemas.openxmlformats.org/drawingml/2006/main">
              <a:ext uri="{FF2B5EF4-FFF2-40B4-BE49-F238E27FC236}">
                <a16:creationId xmlns:a16="http://schemas.microsoft.com/office/drawing/2014/main" id="{25D88AA2-4D52-4683-938D-67F8D9D0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Also capped at 0.5% of account equity.</a:t>
            </a:r>
          </a:p>
        </p:txBody>
      </p:sp>
      <p:sp>
        <p:nvSpPr>
          <p:cNvPr id="10" name="metric-panel-2">
            <a:extLst xmlns:a="http://schemas.openxmlformats.org/drawingml/2006/main">
              <a:ext uri="{FF2B5EF4-FFF2-40B4-BE49-F238E27FC236}">
                <a16:creationId xmlns:a16="http://schemas.microsoft.com/office/drawing/2014/main" id="{FA35F1B3-6FEA-4B1F-975D-B3CC7209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0035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accent-2">
            <a:extLst xmlns:a="http://schemas.openxmlformats.org/drawingml/2006/main">
              <a:ext uri="{FF2B5EF4-FFF2-40B4-BE49-F238E27FC236}">
                <a16:creationId xmlns:a16="http://schemas.microsoft.com/office/drawing/2014/main" id="{7C5E08B0-3E6C-404B-A2D1-83A14F49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0035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A7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metric-stat-2">
            <a:extLst xmlns:a="http://schemas.openxmlformats.org/drawingml/2006/main">
              <a:ext uri="{FF2B5EF4-FFF2-40B4-BE49-F238E27FC236}">
                <a16:creationId xmlns:a16="http://schemas.microsoft.com/office/drawing/2014/main" id="{9DEC49D2-0D17-4412-AF2F-2CDAF83A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238500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3" name="metric-label-2">
            <a:extLst xmlns:a="http://schemas.openxmlformats.org/drawingml/2006/main">
              <a:ext uri="{FF2B5EF4-FFF2-40B4-BE49-F238E27FC236}">
                <a16:creationId xmlns:a16="http://schemas.microsoft.com/office/drawing/2014/main" id="{A3FC3709-C2A2-4B12-8054-7D1A2838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2672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Contract</a:t>
            </a:r>
          </a:p>
        </p:txBody>
      </p:sp>
      <p:sp>
        <p:nvSpPr>
          <p:cNvPr id="14" name="metric-detail-2">
            <a:extLst xmlns:a="http://schemas.openxmlformats.org/drawingml/2006/main">
              <a:ext uri="{FF2B5EF4-FFF2-40B4-BE49-F238E27FC236}">
                <a16:creationId xmlns:a16="http://schemas.microsoft.com/office/drawing/2014/main" id="{DDD4976B-725F-45AB-A308-18BF74A1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8196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One position at a time; no overlapping exposure.</a:t>
            </a:r>
          </a:p>
        </p:txBody>
      </p:sp>
      <p:sp>
        <p:nvSpPr>
          <p:cNvPr id="15" name="metric-panel-3">
            <a:extLst xmlns:a="http://schemas.openxmlformats.org/drawingml/2006/main">
              <a:ext uri="{FF2B5EF4-FFF2-40B4-BE49-F238E27FC236}">
                <a16:creationId xmlns:a16="http://schemas.microsoft.com/office/drawing/2014/main" id="{C582D820-5F1E-472B-8A68-7D6675B2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3333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etric-accent-3">
            <a:extLst xmlns:a="http://schemas.openxmlformats.org/drawingml/2006/main">
              <a:ext uri="{FF2B5EF4-FFF2-40B4-BE49-F238E27FC236}">
                <a16:creationId xmlns:a16="http://schemas.microsoft.com/office/drawing/2014/main" id="{C89BD310-A8AF-4368-94BA-82ED6E47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ric-stat-3">
            <a:extLst xmlns:a="http://schemas.openxmlformats.org/drawingml/2006/main">
              <a:ext uri="{FF2B5EF4-FFF2-40B4-BE49-F238E27FC236}">
                <a16:creationId xmlns:a16="http://schemas.microsoft.com/office/drawing/2014/main" id="{245DC855-948D-4472-BE46-D8C661C93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38500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8" name="metric-label-3">
            <a:extLst xmlns:a="http://schemas.openxmlformats.org/drawingml/2006/main">
              <a:ext uri="{FF2B5EF4-FFF2-40B4-BE49-F238E27FC236}">
                <a16:creationId xmlns:a16="http://schemas.microsoft.com/office/drawing/2014/main" id="{40C601D0-90B6-453E-8796-30677845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672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Submission / date</a:t>
            </a:r>
          </a:p>
        </p:txBody>
      </p:sp>
      <p:sp>
        <p:nvSpPr>
          <p:cNvPr id="19" name="metric-detail-3">
            <a:extLst xmlns:a="http://schemas.openxmlformats.org/drawingml/2006/main">
              <a:ext uri="{FF2B5EF4-FFF2-40B4-BE49-F238E27FC236}">
                <a16:creationId xmlns:a16="http://schemas.microsoft.com/office/drawing/2014/main" id="{60C24E94-2D76-4433-8BC5-FCFD746A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8196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A broker submission consumes that day's authorization.</a:t>
            </a:r>
          </a:p>
        </p:txBody>
      </p:sp>
    </p:spTree>
    <p:extLst>
      <p:ext uri="{BB962C8B-B14F-4D97-AF65-F5344CB8AC3E}">
        <p14:creationId xmlns:p14="http://schemas.microsoft.com/office/powerpoint/2010/main" val="2073119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eyebrow-5">
            <a:extLst xmlns:a="http://schemas.openxmlformats.org/drawingml/2006/main">
              <a:ext uri="{FF2B5EF4-FFF2-40B4-BE49-F238E27FC236}">
                <a16:creationId xmlns:a16="http://schemas.microsoft.com/office/drawing/2014/main" id="{8E899B7A-1E78-42A6-BB3F-7F679765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CURRENT EVIDENCE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4E8B294D-40F4-4995-B88D-2F696B4AB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 live, read-only trail from agent state to account equity.</a:t>
            </a:r>
          </a:p>
        </p:txBody>
      </p:sp>
      <p:sp>
        <p:nvSpPr>
          <p:cNvPr id="3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7C7A1E9F-A19A-48E3-BF47-D1B4DD56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7624F0CD-1E05-4C30-8A90-9F12702A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7239000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1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ae7e35873d45fb"/>
          <a:srcRect xmlns:a="http://schemas.openxmlformats.org/drawingml/2006/main" l="0" t="538" r="0" b="5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" y="1657350"/>
            <a:ext cx="7086600" cy="4381500"/>
          </a:xfrm>
          <a:prstGeom xmlns:a="http://schemas.openxmlformats.org/drawingml/2006/main" prst="rect">
            <a:avLst/>
          </a:prstGeom>
        </p:spPr>
      </p:pic>
      <p:sp>
        <p:nvSpPr>
          <p:cNvPr id="6" name="evidence-card-0">
            <a:extLst xmlns:a="http://schemas.openxmlformats.org/drawingml/2006/main">
              <a:ext uri="{FF2B5EF4-FFF2-40B4-BE49-F238E27FC236}">
                <a16:creationId xmlns:a16="http://schemas.microsoft.com/office/drawing/2014/main" id="{A208BD8A-5674-4462-A7D4-725EEB72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19250"/>
            <a:ext cx="38481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evidence-card-accent-0">
            <a:extLst xmlns:a="http://schemas.openxmlformats.org/drawingml/2006/main">
              <a:ext uri="{FF2B5EF4-FFF2-40B4-BE49-F238E27FC236}">
                <a16:creationId xmlns:a16="http://schemas.microsoft.com/office/drawing/2014/main" id="{F1EF999B-3F38-439A-98A4-E05114D7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1925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stat-0">
            <a:extLst xmlns:a="http://schemas.openxmlformats.org/drawingml/2006/main">
              <a:ext uri="{FF2B5EF4-FFF2-40B4-BE49-F238E27FC236}">
                <a16:creationId xmlns:a16="http://schemas.microsoft.com/office/drawing/2014/main" id="{F66D90EE-2F84-47B7-AA6F-0A674495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81175"/>
            <a:ext cx="1295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191</a:t>
            </a:r>
          </a:p>
        </p:txBody>
      </p:sp>
      <p:sp>
        <p:nvSpPr>
          <p:cNvPr id="9" name="evidence-label-0">
            <a:extLst xmlns:a="http://schemas.openxmlformats.org/drawingml/2006/main">
              <a:ext uri="{FF2B5EF4-FFF2-40B4-BE49-F238E27FC236}">
                <a16:creationId xmlns:a16="http://schemas.microsoft.com/office/drawing/2014/main" id="{6E817882-96AB-4170-86E3-0EF5FF72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819275"/>
            <a:ext cx="2076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AUTOMATED TESTS</a:t>
            </a:r>
          </a:p>
        </p:txBody>
      </p:sp>
      <p:sp>
        <p:nvSpPr>
          <p:cNvPr id="10" name="evidence-detail-0">
            <a:extLst xmlns:a="http://schemas.openxmlformats.org/drawingml/2006/main">
              <a:ext uri="{FF2B5EF4-FFF2-40B4-BE49-F238E27FC236}">
                <a16:creationId xmlns:a16="http://schemas.microsoft.com/office/drawing/2014/main" id="{5E773C87-EB51-493A-B286-A80CF6BA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526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Integrated release and isolation checks.</a:t>
            </a:r>
          </a:p>
        </p:txBody>
      </p:sp>
      <p:sp>
        <p:nvSpPr>
          <p:cNvPr id="11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C7020EB9-1D1E-47C9-8E15-452F205F5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38481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card-accent-1">
            <a:extLst xmlns:a="http://schemas.openxmlformats.org/drawingml/2006/main">
              <a:ext uri="{FF2B5EF4-FFF2-40B4-BE49-F238E27FC236}">
                <a16:creationId xmlns:a16="http://schemas.microsoft.com/office/drawing/2014/main" id="{5962F90C-C741-4400-9724-2112CBB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2895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A7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A7E1F876-4B7D-41C7-9C3F-F0858F20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90875"/>
            <a:ext cx="1295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$100K</a:t>
            </a:r>
          </a:p>
        </p:txBody>
      </p:sp>
      <p:sp>
        <p:nvSpPr>
          <p:cNvPr id="14" name="evidence-label-1">
            <a:extLst xmlns:a="http://schemas.openxmlformats.org/drawingml/2006/main">
              <a:ext uri="{FF2B5EF4-FFF2-40B4-BE49-F238E27FC236}">
                <a16:creationId xmlns:a16="http://schemas.microsoft.com/office/drawing/2014/main" id="{50FAFAA0-3AEB-4284-B9A0-10F462A5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228975"/>
            <a:ext cx="2076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PAPER BASELINE</a:t>
            </a:r>
          </a:p>
        </p:txBody>
      </p:sp>
      <p:sp>
        <p:nvSpPr>
          <p:cNvPr id="15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36BFE04B-CE87-495F-A5E4-4DA4DAFD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623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Flat account; zero orders on Aug 31.</a:t>
            </a:r>
          </a:p>
        </p:txBody>
      </p:sp>
      <p:sp>
        <p:nvSpPr>
          <p:cNvPr id="16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155A55DA-8348-4E30-93F9-80B20AA7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38650"/>
            <a:ext cx="38481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card-accent-2">
            <a:extLst xmlns:a="http://schemas.openxmlformats.org/drawingml/2006/main">
              <a:ext uri="{FF2B5EF4-FFF2-40B4-BE49-F238E27FC236}">
                <a16:creationId xmlns:a16="http://schemas.microsoft.com/office/drawing/2014/main" id="{A896C6DC-3883-4E42-803F-E44DA535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3865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C68E02C1-A727-4E35-8637-ED538588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00575"/>
            <a:ext cx="12954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READY</a:t>
            </a:r>
          </a:p>
        </p:txBody>
      </p:sp>
      <p:sp>
        <p:nvSpPr>
          <p:cNvPr id="19" name="evidence-label-2">
            <a:extLst xmlns:a="http://schemas.openxmlformats.org/drawingml/2006/main">
              <a:ext uri="{FF2B5EF4-FFF2-40B4-BE49-F238E27FC236}">
                <a16:creationId xmlns:a16="http://schemas.microsoft.com/office/drawing/2014/main" id="{2C542FBB-09AB-440B-87FC-FA25893C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638675"/>
            <a:ext cx="2076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MCP + WORKER</a:t>
            </a:r>
          </a:p>
        </p:txBody>
      </p:sp>
      <p:sp>
        <p:nvSpPr>
          <p:cNvPr id="2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F06C17D6-B4CE-46D7-8F9A-EC584F0C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72075"/>
            <a:ext cx="3295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Read-only smoke passed on the Droplet.</a:t>
            </a:r>
          </a:p>
        </p:txBody>
      </p:sp>
      <p:sp>
        <p:nvSpPr>
          <p:cNvPr id="21" name="evidence-footer">
            <a:extLst xmlns:a="http://schemas.openxmlformats.org/drawingml/2006/main">
              <a:ext uri="{FF2B5EF4-FFF2-40B4-BE49-F238E27FC236}">
                <a16:creationId xmlns:a16="http://schemas.microsoft.com/office/drawing/2014/main" id="{834B8B03-52AB-4228-A0AE-5497FA83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9055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Baseline evidence only — final equity and P&amp;L remain broker-reconciled paper results, never replay output.</a:t>
            </a:r>
          </a:p>
        </p:txBody>
      </p:sp>
    </p:spTree>
    <p:extLst>
      <p:ext uri="{BB962C8B-B14F-4D97-AF65-F5344CB8AC3E}">
        <p14:creationId xmlns:p14="http://schemas.microsoft.com/office/powerpoint/2010/main" val="20726617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6">
            <a:extLst xmlns:a="http://schemas.openxmlformats.org/drawingml/2006/main">
              <a:ext uri="{FF2B5EF4-FFF2-40B4-BE49-F238E27FC236}">
                <a16:creationId xmlns:a16="http://schemas.microsoft.com/office/drawing/2014/main" id="{A6B10791-9AE9-48B4-80AE-F592C29D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FUTURE ROADMAP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825EBD65-7588-499B-BBD1-93D803F0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11391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Next: better evidence, with the same hard boundaries.</a:t>
            </a:r>
          </a:p>
        </p:txBody>
      </p:sp>
      <p:sp>
        <p:nvSpPr>
          <p:cNvPr id="3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AE5FEB6E-4FF3-4DFC-A29C-79512FB5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341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future-line">
            <a:extLst xmlns:a="http://schemas.openxmlformats.org/drawingml/2006/main">
              <a:ext uri="{FF2B5EF4-FFF2-40B4-BE49-F238E27FC236}">
                <a16:creationId xmlns:a16="http://schemas.microsoft.com/office/drawing/2014/main" id="{5F5DE27E-4935-4350-A264-20745E97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0400"/>
            <a:ext cx="1076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111F"/>
            </a:solidFill>
            <a:prstDash val="solid"/>
          </a:ln>
        </p:spPr>
      </p:sp>
      <p:sp>
        <p:nvSpPr>
          <p:cNvPr id="5" name="future-node-0">
            <a:extLst xmlns:a="http://schemas.openxmlformats.org/drawingml/2006/main">
              <a:ext uri="{FF2B5EF4-FFF2-40B4-BE49-F238E27FC236}">
                <a16:creationId xmlns:a16="http://schemas.microsoft.com/office/drawing/2014/main" id="{1CDF9BEF-B2F0-4356-BD25-6259148B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solidFill>
              <a:srgbClr val="11B8F2"/>
            </a:solidFill>
            <a:prstDash val="solid"/>
          </a:ln>
        </p:spPr>
      </p:sp>
      <p:sp>
        <p:nvSpPr>
          <p:cNvPr id="6" name="future-label-0">
            <a:extLst xmlns:a="http://schemas.openxmlformats.org/drawingml/2006/main">
              <a:ext uri="{FF2B5EF4-FFF2-40B4-BE49-F238E27FC236}">
                <a16:creationId xmlns:a16="http://schemas.microsoft.com/office/drawing/2014/main" id="{7FE573CF-8A12-4409-81B9-7C00F19D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future-title-0">
            <a:extLst xmlns:a="http://schemas.openxmlformats.org/drawingml/2006/main">
              <a:ext uri="{FF2B5EF4-FFF2-40B4-BE49-F238E27FC236}">
                <a16:creationId xmlns:a16="http://schemas.microsoft.com/office/drawing/2014/main" id="{679E5D83-FC79-4948-ADEF-309F114E1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OPRA feed</a:t>
            </a:r>
          </a:p>
        </p:txBody>
      </p:sp>
      <p:sp>
        <p:nvSpPr>
          <p:cNvPr id="8" name="future-body-0">
            <a:extLst xmlns:a="http://schemas.openxmlformats.org/drawingml/2006/main">
              <a:ext uri="{FF2B5EF4-FFF2-40B4-BE49-F238E27FC236}">
                <a16:creationId xmlns:a16="http://schemas.microsoft.com/office/drawing/2014/main" id="{55820C5E-E896-4DCA-A35E-EB3411CC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Replace indicative quotes with consolidated options data and richer liquidity checks.</a:t>
            </a:r>
          </a:p>
        </p:txBody>
      </p:sp>
      <p:sp>
        <p:nvSpPr>
          <p:cNvPr id="9" name="future-node-1">
            <a:extLst xmlns:a="http://schemas.openxmlformats.org/drawingml/2006/main">
              <a:ext uri="{FF2B5EF4-FFF2-40B4-BE49-F238E27FC236}">
                <a16:creationId xmlns:a16="http://schemas.microsoft.com/office/drawing/2014/main" id="{D3294E9A-A71F-4952-A46B-E21C731F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A71A"/>
          </a:solidFill>
          <a:ln xmlns:a="http://schemas.openxmlformats.org/drawingml/2006/main" w="0">
            <a:solidFill>
              <a:srgbClr val="F3A71A"/>
            </a:solidFill>
            <a:prstDash val="solid"/>
          </a:ln>
        </p:spPr>
      </p:sp>
      <p:sp>
        <p:nvSpPr>
          <p:cNvPr id="10" name="future-label-1">
            <a:extLst xmlns:a="http://schemas.openxmlformats.org/drawingml/2006/main">
              <a:ext uri="{FF2B5EF4-FFF2-40B4-BE49-F238E27FC236}">
                <a16:creationId xmlns:a16="http://schemas.microsoft.com/office/drawing/2014/main" id="{E3024B01-F6AE-4715-A21C-3AB76CF3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28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VALIDATION</a:t>
            </a:r>
          </a:p>
        </p:txBody>
      </p:sp>
      <p:sp>
        <p:nvSpPr>
          <p:cNvPr id="11" name="future-title-1">
            <a:extLst xmlns:a="http://schemas.openxmlformats.org/drawingml/2006/main">
              <a:ext uri="{FF2B5EF4-FFF2-40B4-BE49-F238E27FC236}">
                <a16:creationId xmlns:a16="http://schemas.microsoft.com/office/drawing/2014/main" id="{7EB6B8CC-2101-40C7-8D1E-35C72695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Causal replay</a:t>
            </a:r>
          </a:p>
        </p:txBody>
      </p:sp>
      <p:sp>
        <p:nvSpPr>
          <p:cNvPr id="12" name="future-body-1">
            <a:extLst xmlns:a="http://schemas.openxmlformats.org/drawingml/2006/main">
              <a:ext uri="{FF2B5EF4-FFF2-40B4-BE49-F238E27FC236}">
                <a16:creationId xmlns:a16="http://schemas.microsoft.com/office/drawing/2014/main" id="{54DC8A2D-C8D1-4811-A26A-976B97B5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Evaluate a larger event sample with exact-minute evidence and realistic costs.</a:t>
            </a:r>
          </a:p>
        </p:txBody>
      </p:sp>
      <p:sp>
        <p:nvSpPr>
          <p:cNvPr id="13" name="future-node-2">
            <a:extLst xmlns:a="http://schemas.openxmlformats.org/drawingml/2006/main">
              <a:ext uri="{FF2B5EF4-FFF2-40B4-BE49-F238E27FC236}">
                <a16:creationId xmlns:a16="http://schemas.microsoft.com/office/drawing/2014/main" id="{D48ACACC-0283-4B08-827C-4F003F8E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146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B8F2"/>
          </a:solidFill>
          <a:ln xmlns:a="http://schemas.openxmlformats.org/drawingml/2006/main" w="0">
            <a:solidFill>
              <a:srgbClr val="11B8F2"/>
            </a:solidFill>
            <a:prstDash val="solid"/>
          </a:ln>
        </p:spPr>
      </p:sp>
      <p:sp>
        <p:nvSpPr>
          <p:cNvPr id="14" name="future-label-2">
            <a:extLst xmlns:a="http://schemas.openxmlformats.org/drawingml/2006/main">
              <a:ext uri="{FF2B5EF4-FFF2-40B4-BE49-F238E27FC236}">
                <a16:creationId xmlns:a16="http://schemas.microsoft.com/office/drawing/2014/main" id="{580344BC-E3B9-477F-AACD-B6CDA342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289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1B8F2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15" name="future-title-2">
            <a:extLst xmlns:a="http://schemas.openxmlformats.org/drawingml/2006/main">
              <a:ext uri="{FF2B5EF4-FFF2-40B4-BE49-F238E27FC236}">
                <a16:creationId xmlns:a16="http://schemas.microsoft.com/office/drawing/2014/main" id="{67CEC20E-6960-40E1-BEB0-6BA490FC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766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Volatility forecast</a:t>
            </a:r>
          </a:p>
        </p:txBody>
      </p:sp>
      <p:sp>
        <p:nvSpPr>
          <p:cNvPr id="16" name="future-body-2">
            <a:extLst xmlns:a="http://schemas.openxmlformats.org/drawingml/2006/main">
              <a:ext uri="{FF2B5EF4-FFF2-40B4-BE49-F238E27FC236}">
                <a16:creationId xmlns:a16="http://schemas.microsoft.com/office/drawing/2014/main" id="{B34AAB96-E581-441E-AA0E-C6542EED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67200"/>
            <a:ext cx="304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26071"/>
                </a:solidFill>
                <a:latin typeface="Helvetica Neue"/>
                <a:ea typeface="Helvetica Neue"/>
                <a:cs typeface="Helvetica Neue"/>
              </a:rPr>
              <a:t>Compare implied pricing with a stronger realized-move forecast across more events.</a:t>
            </a:r>
          </a:p>
        </p:txBody>
      </p:sp>
      <p:sp>
        <p:nvSpPr>
          <p:cNvPr id="17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AC644B7C-6389-48E4-8BBC-DDE609F0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7111F"/>
                </a:solidFill>
                <a:latin typeface="Helvetica Neue"/>
                <a:ea typeface="Helvetica Neue"/>
                <a:cs typeface="Helvetica Neue"/>
              </a:rPr>
              <a:t>ThetaTrap's goal is not unconstrained intelligence. It is accountable autonomy.</a:t>
            </a:r>
          </a:p>
        </p:txBody>
      </p:sp>
    </p:spTree>
    <p:extLst>
      <p:ext uri="{BB962C8B-B14F-4D97-AF65-F5344CB8AC3E}">
        <p14:creationId xmlns:p14="http://schemas.microsoft.com/office/powerpoint/2010/main" val="20409753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2026-08-31T18:00:43.3440000Z</dcterms:created>
  <dcterms:modified xsi:type="dcterms:W3CDTF">2026-08-31T18:00:43.3440000Z</dcterms:modified>
</coreProperties>
</file>
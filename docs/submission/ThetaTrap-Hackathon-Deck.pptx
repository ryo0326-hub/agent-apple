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be619c8f9d406f" /><Relationship Type="http://schemas.openxmlformats.org/officeDocument/2006/relationships/extended-properties" Target="/docProps/app.xml" Id="R384f170b7e3240b1" /><Relationship Type="http://schemas.openxmlformats.org/officeDocument/2006/relationships/officeDocument" Target="/ppt/presentation.xml" Id="Ra78f203e7b7a40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1aff28be93e44d1"/>
  </p:sldMasterIdLst>
  <p:notesMasterIdLst>
    <p:notesMasterId xmlns:r="http://schemas.openxmlformats.org/officeDocument/2006/relationships" r:id="Rafb347d2c2924841"/>
  </p:notesMasterIdLst>
  <p:sldIdLst>
    <p:sldId xmlns:r="http://schemas.openxmlformats.org/officeDocument/2006/relationships" id="256" r:id="R7330052680df40b1"/>
    <p:sldId xmlns:r="http://schemas.openxmlformats.org/officeDocument/2006/relationships" id="257" r:id="R3e812776bda24371"/>
    <p:sldId xmlns:r="http://schemas.openxmlformats.org/officeDocument/2006/relationships" id="258" r:id="R2ccb14a5360d4848"/>
    <p:sldId xmlns:r="http://schemas.openxmlformats.org/officeDocument/2006/relationships" id="259" r:id="Rc9cbd2f659f24a84"/>
    <p:sldId xmlns:r="http://schemas.openxmlformats.org/officeDocument/2006/relationships" id="260" r:id="R2d4d4fdbe38241d5"/>
    <p:sldId xmlns:r="http://schemas.openxmlformats.org/officeDocument/2006/relationships" id="261" r:id="R6056c159bc144ed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51fda6f010f4fc3" /><Relationship Type="http://schemas.openxmlformats.org/officeDocument/2006/relationships/slideMaster" Target="/ppt/slideMasters/slideMaster1.xml" Id="R11aff28be93e44d1" /><Relationship Type="http://schemas.openxmlformats.org/officeDocument/2006/relationships/notesMaster" Target="/ppt/notesMasters/notesMaster1.xml" Id="Rafb347d2c2924841" /><Relationship Type="http://schemas.openxmlformats.org/officeDocument/2006/relationships/presProps" Target="/ppt/presProps.xml" Id="R3cd834584589423e" /><Relationship Type="http://schemas.openxmlformats.org/officeDocument/2006/relationships/tableStyles" Target="/ppt/tableStyles.xml" Id="R72adec0a92624f6f" /><Relationship Type="http://schemas.openxmlformats.org/officeDocument/2006/relationships/slide" Target="/ppt/slides/slide1.xml" Id="R7330052680df40b1" /><Relationship Type="http://schemas.openxmlformats.org/officeDocument/2006/relationships/slide" Target="/ppt/slides/slide2.xml" Id="R3e812776bda24371" /><Relationship Type="http://schemas.openxmlformats.org/officeDocument/2006/relationships/slide" Target="/ppt/slides/slide3.xml" Id="R2ccb14a5360d4848" /><Relationship Type="http://schemas.openxmlformats.org/officeDocument/2006/relationships/slide" Target="/ppt/slides/slide4.xml" Id="Rc9cbd2f659f24a84" /><Relationship Type="http://schemas.openxmlformats.org/officeDocument/2006/relationships/slide" Target="/ppt/slides/slide5.xml" Id="R2d4d4fdbe38241d5" /><Relationship Type="http://schemas.openxmlformats.org/officeDocument/2006/relationships/slide" Target="/ppt/slides/slide6.xml" Id="R6056c159bc144e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19162f089bd4b1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942aa3838044a3e" /><Relationship Type="http://schemas.openxmlformats.org/officeDocument/2006/relationships/notesMaster" Target="/ppt/notesMasters/notesMaster1.xml" Id="R3cffc93d953a40e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df5e90ad68a462b" /><Relationship Type="http://schemas.openxmlformats.org/officeDocument/2006/relationships/notesMaster" Target="/ppt/notesMasters/notesMaster1.xml" Id="R6d763390c7414aa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73548aa58394d38" /><Relationship Type="http://schemas.openxmlformats.org/officeDocument/2006/relationships/notesMaster" Target="/ppt/notesMasters/notesMaster1.xml" Id="R6afc8076856b442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d5b8eae30614791" /><Relationship Type="http://schemas.openxmlformats.org/officeDocument/2006/relationships/notesMaster" Target="/ppt/notesMasters/notesMaster1.xml" Id="Reee1370d0acd492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2dd37b225054dba" /><Relationship Type="http://schemas.openxmlformats.org/officeDocument/2006/relationships/notesMaster" Target="/ppt/notesMasters/notesMaster1.xml" Id="R479ef38c3051475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8a9b82d834d4596" /><Relationship Type="http://schemas.openxmlformats.org/officeDocument/2006/relationships/notesMaster" Target="/ppt/notesMasters/notesMaster1.xml" Id="Rabce07b6f54b4d2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product boundary: this is an autonomous paper-trading agent, but the model never owns position sizing or risk limits.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Hackathon: https://lablab.ai/ai-hackathons/alpaca-ai-trading-agents-hackathon</a:t>
            </a:r>
          </a:p>
          <a:p xmlns:a="http://schemas.openxmlformats.org/drawingml/2006/main">
            <a:r>
              <a:t>- Cover visual: OpenAI built-in image generation; prompt recorded in docs/assets/cover-prompt.txt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strategy in plain language. Avoid claiming that short volatility is automatically profitable; the product contribution is bounded, auditable autonomy.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Inspiration video: https://www.youtube.com/watch?v=PM1JE3QbsjA</a:t>
            </a:r>
          </a:p>
          <a:p xmlns:a="http://schemas.openxmlformats.org/drawingml/2006/main">
            <a:r>
              <a:t>- Project strategy and controls: repository README and docs/PRD.md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establishes why ThetaTrap is an agent: the model must use tools and make a decision. The policy boundary is intentionally outside the model.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Alpaca MCP server: https://github.com/alpacahq/alpaca-mcp-server</a:t>
            </a:r>
          </a:p>
          <a:p xmlns:a="http://schemas.openxmlformats.org/drawingml/2006/main">
            <a:r>
              <a:t>- Qwen3-Coder-Next: https://featherless.ai/models/Qwen/Qwen3-Coder-Next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that the system may produce no trade. That is a valid safety outcome, not a software failure.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Risk policy and authorization implementation: repository src/thetatrap/policy.py and src/thetatrap/storage.py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the actual competition result verbally from the live dashboard after broker reconciliation.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Event timing: linked first-party investor-relations sources in config/events.yaml</a:t>
            </a:r>
          </a:p>
          <a:p xmlns:a="http://schemas.openxmlformats.org/drawingml/2006/main">
            <a:r>
              <a:t>- Weekly expirations: https://www.cboe.com/available_weeklys/</a:t>
            </a:r>
          </a:p>
          <a:p xmlns:a="http://schemas.openxmlformats.org/drawingml/2006/main">
            <a:r>
              <a:t>- BLS September schedule: https://www.bls.gov/schedule/2026/09_sched_list.htm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tying future model sophistication back to the invariant: improved forecasts never weaken account, sizing or lifecycle controls.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roadmap and limitations: repository README and docs/PRD.md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ef6fc60ea0492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df3bcc69e4e42dd" /><Relationship Type="http://schemas.openxmlformats.org/officeDocument/2006/relationships/slideLayout" Target="/ppt/slideLayouts/slideLayout1.xml" Id="R2fb0d67b92d6457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b0d67b92d6457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d92fa104b34dcf" /><Relationship Type="http://schemas.openxmlformats.org/officeDocument/2006/relationships/image" Target="/ppt/media/image.png" Id="R3bdfaebde4a14934" /><Relationship Type="http://schemas.openxmlformats.org/officeDocument/2006/relationships/notesSlide" Target="/ppt/notesSlides/notesSlide1.xml" Id="Red3637fcbb584fb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7b7c18a2a343d5" /><Relationship Type="http://schemas.openxmlformats.org/officeDocument/2006/relationships/notesSlide" Target="/ppt/notesSlides/notesSlide2.xml" Id="R1468e9e39641463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b5cdf6a9e24a9c" /><Relationship Type="http://schemas.openxmlformats.org/officeDocument/2006/relationships/notesSlide" Target="/ppt/notesSlides/notesSlide3.xml" Id="R9d98d920ca0347b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3324cf7aa140e4" /><Relationship Type="http://schemas.openxmlformats.org/officeDocument/2006/relationships/notesSlide" Target="/ppt/notesSlides/notesSlide4.xml" Id="R71e7ca82201a487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d9108670c14f06" /><Relationship Type="http://schemas.openxmlformats.org/officeDocument/2006/relationships/notesSlide" Target="/ppt/notesSlides/notesSlide5.xml" Id="Rf43660847aca48c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46ce77d0d74b8e" /><Relationship Type="http://schemas.openxmlformats.org/officeDocument/2006/relationships/notesSlide" Target="/ppt/notesSlides/notesSlide6.xml" Id="R10e9a0cc9fc1419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11393D7F-4026-4F21-9B23-68ED23522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B8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1B8F2"/>
                </a:solidFill>
                <a:latin typeface="Helvetica Neue"/>
                <a:ea typeface="Helvetica Neue"/>
                <a:cs typeface="Helvetica Neue"/>
              </a:rPr>
              <a:t>ALPACA AI TRADING AGENTS HACKATHON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4D0F0EE5-ED54-4416-8B05-2804FA1E9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514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ThetaTrap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42815466-4B43-44FB-8D5C-6C8A892DC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4953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A bounded MCP-native</a:t>
            </a:r>
          </a:p>
          <a:p xmlns:a="http://schemas.openxmlformats.org/drawingml/2006/main">
            <a:pPr>
              <a:defRPr sz="285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AI options agent</a:t>
            </a:r>
          </a:p>
        </p:txBody>
      </p:sp>
      <p:sp>
        <p:nvSpPr>
          <p:cNvPr id="4" name="cover-body">
            <a:extLst xmlns:a="http://schemas.openxmlformats.org/drawingml/2006/main">
              <a:ext uri="{FF2B5EF4-FFF2-40B4-BE49-F238E27FC236}">
                <a16:creationId xmlns:a16="http://schemas.microsoft.com/office/drawing/2014/main" id="{E68EC6BD-AAEC-41D6-9B5A-9E6EB14CE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4953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rPr>
              <a:t>Qwen investigates earnings risk and calls Alpaca's official MCP tools. Deterministic policy keeps every paper order inside fixed limits.</a:t>
            </a:r>
          </a:p>
        </p:txBody>
      </p:sp>
      <p:sp>
        <p:nvSpPr>
          <p:cNvPr id="5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2F04748B-ACAA-4345-86BA-949EECFF5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3A71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3A71A"/>
                </a:solidFill>
                <a:latin typeface="Helvetica Neue"/>
                <a:ea typeface="Helvetica Neue"/>
                <a:cs typeface="Helvetica Neue"/>
              </a:rPr>
              <a:t>PAPER TRADING  /  BASIC INDICATIVE DATA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dfaebde4a14934"/>
          <a:srcRect xmlns:a="http://schemas.openxmlformats.org/drawingml/2006/main" l="26369" t="0" r="2636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19800" y="0"/>
            <a:ext cx="6172200" cy="6858000"/>
          </a:xfrm>
          <a:prstGeom xmlns:a="http://schemas.openxmlformats.org/drawingml/2006/main" prst="rect">
            <a:avLst/>
          </a:prstGeom>
        </p:spPr>
      </p:pic>
      <p:sp>
        <p:nvSpPr>
          <p:cNvPr id="7" name="slide-number-1">
            <a:extLst xmlns:a="http://schemas.openxmlformats.org/drawingml/2006/main">
              <a:ext uri="{FF2B5EF4-FFF2-40B4-BE49-F238E27FC236}">
                <a16:creationId xmlns:a16="http://schemas.microsoft.com/office/drawing/2014/main" id="{8B20E59D-2708-4E25-A3DE-A145254E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3412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2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26071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478038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eyebrow-2">
            <a:extLst xmlns:a="http://schemas.openxmlformats.org/drawingml/2006/main">
              <a:ext uri="{FF2B5EF4-FFF2-40B4-BE49-F238E27FC236}">
                <a16:creationId xmlns:a16="http://schemas.microsoft.com/office/drawing/2014/main" id="{2AD5FEE3-8B74-4D37-AFDD-91321AA64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B8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1B8F2"/>
                </a:solidFill>
                <a:latin typeface="Helvetica Neue"/>
                <a:ea typeface="Helvetica Neue"/>
                <a:cs typeface="Helvetica Neue"/>
              </a:rPr>
              <a:t>ORIGIN + STRATEGY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C36632DF-EF17-46B6-8AC1-5EC5F116A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The thesis was simple. Safe autonomy was not.</a:t>
            </a:r>
          </a:p>
        </p:txBody>
      </p:sp>
      <p:sp>
        <p:nvSpPr>
          <p:cNvPr id="3" name="slide-number-2">
            <a:extLst xmlns:a="http://schemas.openxmlformats.org/drawingml/2006/main">
              <a:ext uri="{FF2B5EF4-FFF2-40B4-BE49-F238E27FC236}">
                <a16:creationId xmlns:a16="http://schemas.microsoft.com/office/drawing/2014/main" id="{3FBAAF85-7055-4774-8759-2CAEE3AF5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3412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2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26071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4" name="origin-quote">
            <a:extLst xmlns:a="http://schemas.openxmlformats.org/drawingml/2006/main">
              <a:ext uri="{FF2B5EF4-FFF2-40B4-BE49-F238E27FC236}">
                <a16:creationId xmlns:a16="http://schemas.microsoft.com/office/drawing/2014/main" id="{A89084D7-0AD2-4EC1-A9CC-D6450F9FC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4953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A YouTube lesson made me ask:</a:t>
            </a:r>
          </a:p>
          <a:p xmlns:a="http://schemas.openxmlformats.org/drawingml/2006/main">
            <a:pPr>
              <a:defRPr sz="2325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can an agent collect elevated earnings premium without betting on direction?</a:t>
            </a:r>
          </a:p>
        </p:txBody>
      </p:sp>
      <p:sp>
        <p:nvSpPr>
          <p:cNvPr id="5" name="origin-learning">
            <a:extLst xmlns:a="http://schemas.openxmlformats.org/drawingml/2006/main">
              <a:ext uri="{FF2B5EF4-FFF2-40B4-BE49-F238E27FC236}">
                <a16:creationId xmlns:a16="http://schemas.microsoft.com/office/drawing/2014/main" id="{24C394B4-4D05-45FD-962F-9FED86EF8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81450"/>
            <a:ext cx="49530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2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526071"/>
                </a:solidFill>
                <a:latin typeface="Helvetica Neue"/>
                <a:ea typeface="Helvetica Neue"/>
                <a:cs typeface="Helvetica Neue"/>
              </a:rPr>
              <a:t>The hard part was not drawing an iron condor. It was proving the event, liquidity, order state, and exit were safe after timeouts and restarts.</a:t>
            </a:r>
          </a:p>
        </p:txBody>
      </p:sp>
      <p:sp>
        <p:nvSpPr>
          <p:cNvPr id="6" name="step-rule-01">
            <a:extLst xmlns:a="http://schemas.openxmlformats.org/drawingml/2006/main">
              <a:ext uri="{FF2B5EF4-FFF2-40B4-BE49-F238E27FC236}">
                <a16:creationId xmlns:a16="http://schemas.microsoft.com/office/drawing/2014/main" id="{92C62231-08A4-4E4D-B0E4-FC4E030F8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76500"/>
            <a:ext cx="556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3CC"/>
            </a:solidFill>
            <a:prstDash val="solid"/>
          </a:ln>
        </p:spPr>
      </p:sp>
      <p:sp>
        <p:nvSpPr>
          <p:cNvPr id="7" name="step-num-01">
            <a:extLst xmlns:a="http://schemas.openxmlformats.org/drawingml/2006/main">
              <a:ext uri="{FF2B5EF4-FFF2-40B4-BE49-F238E27FC236}">
                <a16:creationId xmlns:a16="http://schemas.microsoft.com/office/drawing/2014/main" id="{337630E3-E40D-4A79-BBA8-9B7BC7B63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6954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B8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B8F2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step-title-01">
            <a:extLst xmlns:a="http://schemas.openxmlformats.org/drawingml/2006/main">
              <a:ext uri="{FF2B5EF4-FFF2-40B4-BE49-F238E27FC236}">
                <a16:creationId xmlns:a16="http://schemas.microsoft.com/office/drawing/2014/main" id="{E8DD305E-B1D1-49B3-BEE4-7FA072E93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6764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Verify</a:t>
            </a:r>
          </a:p>
        </p:txBody>
      </p:sp>
      <p:sp>
        <p:nvSpPr>
          <p:cNvPr id="9" name="step-body-01">
            <a:extLst xmlns:a="http://schemas.openxmlformats.org/drawingml/2006/main">
              <a:ext uri="{FF2B5EF4-FFF2-40B4-BE49-F238E27FC236}">
                <a16:creationId xmlns:a16="http://schemas.microsoft.com/office/drawing/2014/main" id="{35BC8706-E959-4F30-A3DB-AD5228240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95450"/>
            <a:ext cx="3219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26071"/>
                </a:solidFill>
                <a:latin typeface="Helvetica Neue"/>
                <a:ea typeface="Helvetica Neue"/>
                <a:cs typeface="Helvetica Neue"/>
              </a:rPr>
              <a:t>Use first-party earnings timing and require listed expirations.</a:t>
            </a:r>
          </a:p>
        </p:txBody>
      </p:sp>
      <p:sp>
        <p:nvSpPr>
          <p:cNvPr id="10" name="step-rule-02">
            <a:extLst xmlns:a="http://schemas.openxmlformats.org/drawingml/2006/main">
              <a:ext uri="{FF2B5EF4-FFF2-40B4-BE49-F238E27FC236}">
                <a16:creationId xmlns:a16="http://schemas.microsoft.com/office/drawing/2014/main" id="{AAB75E73-0EBC-4F18-9AEF-7420E8E22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543300"/>
            <a:ext cx="556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3CC"/>
            </a:solidFill>
            <a:prstDash val="solid"/>
          </a:ln>
        </p:spPr>
      </p:sp>
      <p:sp>
        <p:nvSpPr>
          <p:cNvPr id="11" name="step-num-02">
            <a:extLst xmlns:a="http://schemas.openxmlformats.org/drawingml/2006/main">
              <a:ext uri="{FF2B5EF4-FFF2-40B4-BE49-F238E27FC236}">
                <a16:creationId xmlns:a16="http://schemas.microsoft.com/office/drawing/2014/main" id="{C116DC1F-E1B3-46BF-9AA4-456CDE7A2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622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B8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B8F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2" name="step-title-02">
            <a:extLst xmlns:a="http://schemas.openxmlformats.org/drawingml/2006/main">
              <a:ext uri="{FF2B5EF4-FFF2-40B4-BE49-F238E27FC236}">
                <a16:creationId xmlns:a16="http://schemas.microsoft.com/office/drawing/2014/main" id="{36FE4D3F-C94E-4ED6-96EB-014B7D9B9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432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Structure</a:t>
            </a:r>
          </a:p>
        </p:txBody>
      </p:sp>
      <p:sp>
        <p:nvSpPr>
          <p:cNvPr id="13" name="step-body-02">
            <a:extLst xmlns:a="http://schemas.openxmlformats.org/drawingml/2006/main">
              <a:ext uri="{FF2B5EF4-FFF2-40B4-BE49-F238E27FC236}">
                <a16:creationId xmlns:a16="http://schemas.microsoft.com/office/drawing/2014/main" id="{E31B8AA9-CF3E-4E80-B60A-9AB1F0E2E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62250"/>
            <a:ext cx="3219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26071"/>
                </a:solidFill>
                <a:latin typeface="Helvetica Neue"/>
                <a:ea typeface="Helvetica Neue"/>
                <a:cs typeface="Helvetica Neue"/>
              </a:rPr>
              <a:t>Sell near-term premium with farther-out wings that cap loss.</a:t>
            </a:r>
          </a:p>
        </p:txBody>
      </p:sp>
      <p:sp>
        <p:nvSpPr>
          <p:cNvPr id="14" name="step-rule-03">
            <a:extLst xmlns:a="http://schemas.openxmlformats.org/drawingml/2006/main">
              <a:ext uri="{FF2B5EF4-FFF2-40B4-BE49-F238E27FC236}">
                <a16:creationId xmlns:a16="http://schemas.microsoft.com/office/drawing/2014/main" id="{A2D90D75-9C0E-4AB2-876E-5675C6F91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610100"/>
            <a:ext cx="556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3CC"/>
            </a:solidFill>
            <a:prstDash val="solid"/>
          </a:ln>
        </p:spPr>
      </p:sp>
      <p:sp>
        <p:nvSpPr>
          <p:cNvPr id="15" name="step-num-03">
            <a:extLst xmlns:a="http://schemas.openxmlformats.org/drawingml/2006/main">
              <a:ext uri="{FF2B5EF4-FFF2-40B4-BE49-F238E27FC236}">
                <a16:creationId xmlns:a16="http://schemas.microsoft.com/office/drawing/2014/main" id="{0C0D7129-1540-48ED-943E-9691DBF3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8290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B8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B8F2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6" name="step-title-03">
            <a:extLst xmlns:a="http://schemas.openxmlformats.org/drawingml/2006/main">
              <a:ext uri="{FF2B5EF4-FFF2-40B4-BE49-F238E27FC236}">
                <a16:creationId xmlns:a16="http://schemas.microsoft.com/office/drawing/2014/main" id="{28DE4BC9-E8B4-4E6D-AAF3-D362B5DD1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100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Decide</a:t>
            </a:r>
          </a:p>
        </p:txBody>
      </p:sp>
      <p:sp>
        <p:nvSpPr>
          <p:cNvPr id="17" name="step-body-03">
            <a:extLst xmlns:a="http://schemas.openxmlformats.org/drawingml/2006/main">
              <a:ext uri="{FF2B5EF4-FFF2-40B4-BE49-F238E27FC236}">
                <a16:creationId xmlns:a16="http://schemas.microsoft.com/office/drawing/2014/main" id="{8F0DDDAE-CF08-460F-B38B-BC042C09F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29050"/>
            <a:ext cx="3219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26071"/>
                </a:solidFill>
                <a:latin typeface="Helvetica Neue"/>
                <a:ea typeface="Helvetica Neue"/>
                <a:cs typeface="Helvetica Neue"/>
              </a:rPr>
              <a:t>Let Qwen inspect evidence and approve or veto the candidate.</a:t>
            </a:r>
          </a:p>
        </p:txBody>
      </p:sp>
      <p:sp>
        <p:nvSpPr>
          <p:cNvPr id="18" name="step-rule-04">
            <a:extLst xmlns:a="http://schemas.openxmlformats.org/drawingml/2006/main">
              <a:ext uri="{FF2B5EF4-FFF2-40B4-BE49-F238E27FC236}">
                <a16:creationId xmlns:a16="http://schemas.microsoft.com/office/drawing/2014/main" id="{95D15115-C008-4F32-A892-19ECA89C8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676900"/>
            <a:ext cx="556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3CC"/>
            </a:solidFill>
            <a:prstDash val="solid"/>
          </a:ln>
        </p:spPr>
      </p:sp>
      <p:sp>
        <p:nvSpPr>
          <p:cNvPr id="19" name="step-num-04">
            <a:extLst xmlns:a="http://schemas.openxmlformats.org/drawingml/2006/main">
              <a:ext uri="{FF2B5EF4-FFF2-40B4-BE49-F238E27FC236}">
                <a16:creationId xmlns:a16="http://schemas.microsoft.com/office/drawing/2014/main" id="{84551693-742D-4C6D-8165-7A103AD1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8958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B8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B8F2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0" name="step-title-04">
            <a:extLst xmlns:a="http://schemas.openxmlformats.org/drawingml/2006/main">
              <a:ext uri="{FF2B5EF4-FFF2-40B4-BE49-F238E27FC236}">
                <a16:creationId xmlns:a16="http://schemas.microsoft.com/office/drawing/2014/main" id="{6673C75D-E8DB-4785-A84C-5E3D663AF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8768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Exit</a:t>
            </a:r>
          </a:p>
        </p:txBody>
      </p:sp>
      <p:sp>
        <p:nvSpPr>
          <p:cNvPr id="21" name="step-body-04">
            <a:extLst xmlns:a="http://schemas.openxmlformats.org/drawingml/2006/main">
              <a:ext uri="{FF2B5EF4-FFF2-40B4-BE49-F238E27FC236}">
                <a16:creationId xmlns:a16="http://schemas.microsoft.com/office/drawing/2014/main" id="{2550ADC8-46D8-4F8D-B031-9AA0BB461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95850"/>
            <a:ext cx="3219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26071"/>
                </a:solidFill>
                <a:latin typeface="Helvetica Neue"/>
                <a:ea typeface="Helvetica Neue"/>
                <a:cs typeface="Helvetica Neue"/>
              </a:rPr>
              <a:t>Reconcile through Alpaca MCP and target a next-morning close.</a:t>
            </a:r>
          </a:p>
        </p:txBody>
      </p:sp>
    </p:spTree>
    <p:extLst>
      <p:ext uri="{BB962C8B-B14F-4D97-AF65-F5344CB8AC3E}">
        <p14:creationId xmlns:p14="http://schemas.microsoft.com/office/powerpoint/2010/main" val="10583009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-3">
            <a:extLst xmlns:a="http://schemas.openxmlformats.org/drawingml/2006/main">
              <a:ext uri="{FF2B5EF4-FFF2-40B4-BE49-F238E27FC236}">
                <a16:creationId xmlns:a16="http://schemas.microsoft.com/office/drawing/2014/main" id="{B99AEC18-167C-4E21-8637-B56EC257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B8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1B8F2"/>
                </a:solidFill>
                <a:latin typeface="Helvetica Neue"/>
                <a:ea typeface="Helvetica Neue"/>
                <a:cs typeface="Helvetica Neue"/>
              </a:rPr>
              <a:t>AGENT ARCHITECTURE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944E448E-2DE8-4B3C-9C17-83DA2AAAF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The LLM makes the judgment; policy signs the order.</a:t>
            </a:r>
          </a:p>
        </p:txBody>
      </p:sp>
      <p:sp>
        <p:nvSpPr>
          <p:cNvPr id="3" name="slide-number-3">
            <a:extLst xmlns:a="http://schemas.openxmlformats.org/drawingml/2006/main">
              <a:ext uri="{FF2B5EF4-FFF2-40B4-BE49-F238E27FC236}">
                <a16:creationId xmlns:a16="http://schemas.microsoft.com/office/drawing/2014/main" id="{1EE2AA42-3441-4CBE-85C1-AA02F2F9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3412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2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26071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4" name="architecture-line">
            <a:extLst xmlns:a="http://schemas.openxmlformats.org/drawingml/2006/main">
              <a:ext uri="{FF2B5EF4-FFF2-40B4-BE49-F238E27FC236}">
                <a16:creationId xmlns:a16="http://schemas.microsoft.com/office/drawing/2014/main" id="{844D54C0-FD36-46D1-8263-BB3C40259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0040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7111F"/>
            </a:solidFill>
            <a:prstDash val="solid"/>
          </a:ln>
        </p:spPr>
      </p:sp>
      <p:sp>
        <p:nvSpPr>
          <p:cNvPr id="5" name="architecture-node-0">
            <a:extLst xmlns:a="http://schemas.openxmlformats.org/drawingml/2006/main">
              <a:ext uri="{FF2B5EF4-FFF2-40B4-BE49-F238E27FC236}">
                <a16:creationId xmlns:a16="http://schemas.microsoft.com/office/drawing/2014/main" id="{AAAEB04E-D40F-45B0-BCCE-D90AA239B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146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F2"/>
          </a:solidFill>
          <a:ln xmlns:a="http://schemas.openxmlformats.org/drawingml/2006/main" w="0">
            <a:solidFill>
              <a:srgbClr val="11B8F2"/>
            </a:solidFill>
            <a:prstDash val="solid"/>
          </a:ln>
        </p:spPr>
      </p:sp>
      <p:sp>
        <p:nvSpPr>
          <p:cNvPr id="6" name="architecture-label-0">
            <a:extLst xmlns:a="http://schemas.openxmlformats.org/drawingml/2006/main">
              <a:ext uri="{FF2B5EF4-FFF2-40B4-BE49-F238E27FC236}">
                <a16:creationId xmlns:a16="http://schemas.microsoft.com/office/drawing/2014/main" id="{F965F3E9-61A1-498B-8E2C-DA865C545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B8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1B8F2"/>
                </a:solidFill>
                <a:latin typeface="Helvetica Neue"/>
                <a:ea typeface="Helvetica Neue"/>
                <a:cs typeface="Helvetica Neue"/>
              </a:rPr>
              <a:t>OBSERVE</a:t>
            </a:r>
          </a:p>
        </p:txBody>
      </p:sp>
      <p:sp>
        <p:nvSpPr>
          <p:cNvPr id="7" name="architecture-title-0">
            <a:extLst xmlns:a="http://schemas.openxmlformats.org/drawingml/2006/main">
              <a:ext uri="{FF2B5EF4-FFF2-40B4-BE49-F238E27FC236}">
                <a16:creationId xmlns:a16="http://schemas.microsoft.com/office/drawing/2014/main" id="{9BC22A2D-B431-4BB5-80D0-95F210E03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MCP reads</a:t>
            </a:r>
          </a:p>
        </p:txBody>
      </p:sp>
      <p:sp>
        <p:nvSpPr>
          <p:cNvPr id="8" name="architecture-body-0">
            <a:extLst xmlns:a="http://schemas.openxmlformats.org/drawingml/2006/main">
              <a:ext uri="{FF2B5EF4-FFF2-40B4-BE49-F238E27FC236}">
                <a16:creationId xmlns:a16="http://schemas.microsoft.com/office/drawing/2014/main" id="{9FEAC8B0-D272-46D5-81D8-469FB290D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67200"/>
            <a:ext cx="304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rPr>
              <a:t>Verified events, account state, option chains, quotes, news context.</a:t>
            </a:r>
          </a:p>
        </p:txBody>
      </p:sp>
      <p:sp>
        <p:nvSpPr>
          <p:cNvPr id="9" name="architecture-node-1">
            <a:extLst xmlns:a="http://schemas.openxmlformats.org/drawingml/2006/main">
              <a:ext uri="{FF2B5EF4-FFF2-40B4-BE49-F238E27FC236}">
                <a16:creationId xmlns:a16="http://schemas.microsoft.com/office/drawing/2014/main" id="{606A9E18-FB32-4F28-A050-6221EB78C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1146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A71A"/>
          </a:solidFill>
          <a:ln xmlns:a="http://schemas.openxmlformats.org/drawingml/2006/main" w="0">
            <a:solidFill>
              <a:srgbClr val="F3A71A"/>
            </a:solidFill>
            <a:prstDash val="solid"/>
          </a:ln>
        </p:spPr>
      </p:sp>
      <p:sp>
        <p:nvSpPr>
          <p:cNvPr id="10" name="architecture-label-1">
            <a:extLst xmlns:a="http://schemas.openxmlformats.org/drawingml/2006/main">
              <a:ext uri="{FF2B5EF4-FFF2-40B4-BE49-F238E27FC236}">
                <a16:creationId xmlns:a16="http://schemas.microsoft.com/office/drawing/2014/main" id="{70907993-9039-4C4C-AD25-45A835E29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62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B8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1B8F2"/>
                </a:solidFill>
                <a:latin typeface="Helvetica Neue"/>
                <a:ea typeface="Helvetica Neue"/>
                <a:cs typeface="Helvetica Neue"/>
              </a:rPr>
              <a:t>DECIDE</a:t>
            </a:r>
          </a:p>
        </p:txBody>
      </p:sp>
      <p:sp>
        <p:nvSpPr>
          <p:cNvPr id="11" name="architecture-title-1">
            <a:extLst xmlns:a="http://schemas.openxmlformats.org/drawingml/2006/main">
              <a:ext uri="{FF2B5EF4-FFF2-40B4-BE49-F238E27FC236}">
                <a16:creationId xmlns:a16="http://schemas.microsoft.com/office/drawing/2014/main" id="{B0458B90-7949-4506-B589-174DBA4E1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6766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Qwen tool loop</a:t>
            </a:r>
          </a:p>
        </p:txBody>
      </p:sp>
      <p:sp>
        <p:nvSpPr>
          <p:cNvPr id="12" name="architecture-body-1">
            <a:extLst xmlns:a="http://schemas.openxmlformats.org/drawingml/2006/main">
              <a:ext uri="{FF2B5EF4-FFF2-40B4-BE49-F238E27FC236}">
                <a16:creationId xmlns:a16="http://schemas.microsoft.com/office/drawing/2014/main" id="{BAD96E52-FAB4-4F1A-B858-7E4AF2FA5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267200"/>
            <a:ext cx="304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rPr>
              <a:t>Calls allowed tools, explains evidence, then proposes or vetoes.</a:t>
            </a:r>
          </a:p>
        </p:txBody>
      </p:sp>
      <p:sp>
        <p:nvSpPr>
          <p:cNvPr id="13" name="architecture-node-2">
            <a:extLst xmlns:a="http://schemas.openxmlformats.org/drawingml/2006/main">
              <a:ext uri="{FF2B5EF4-FFF2-40B4-BE49-F238E27FC236}">
                <a16:creationId xmlns:a16="http://schemas.microsoft.com/office/drawing/2014/main" id="{D10A854A-FDC0-4DEB-8D27-86E2F3AFE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1146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F2"/>
          </a:solidFill>
          <a:ln xmlns:a="http://schemas.openxmlformats.org/drawingml/2006/main" w="0">
            <a:solidFill>
              <a:srgbClr val="11B8F2"/>
            </a:solidFill>
            <a:prstDash val="solid"/>
          </a:ln>
        </p:spPr>
      </p:sp>
      <p:sp>
        <p:nvSpPr>
          <p:cNvPr id="14" name="architecture-label-2">
            <a:extLst xmlns:a="http://schemas.openxmlformats.org/drawingml/2006/main">
              <a:ext uri="{FF2B5EF4-FFF2-40B4-BE49-F238E27FC236}">
                <a16:creationId xmlns:a16="http://schemas.microsoft.com/office/drawing/2014/main" id="{3486B1CB-4A87-463F-9508-912D25716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2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B8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1B8F2"/>
                </a:solidFill>
                <a:latin typeface="Helvetica Neue"/>
                <a:ea typeface="Helvetica Neue"/>
                <a:cs typeface="Helvetica Neue"/>
              </a:rPr>
              <a:t>EXECUTE + RECONCILE</a:t>
            </a:r>
          </a:p>
        </p:txBody>
      </p:sp>
      <p:sp>
        <p:nvSpPr>
          <p:cNvPr id="15" name="architecture-title-2">
            <a:extLst xmlns:a="http://schemas.openxmlformats.org/drawingml/2006/main">
              <a:ext uri="{FF2B5EF4-FFF2-40B4-BE49-F238E27FC236}">
                <a16:creationId xmlns:a16="http://schemas.microsoft.com/office/drawing/2014/main" id="{26104529-149C-4F3D-A782-405F238A6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6766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Policy gateway</a:t>
            </a:r>
          </a:p>
        </p:txBody>
      </p:sp>
      <p:sp>
        <p:nvSpPr>
          <p:cNvPr id="16" name="architecture-body-2">
            <a:extLst xmlns:a="http://schemas.openxmlformats.org/drawingml/2006/main">
              <a:ext uri="{FF2B5EF4-FFF2-40B4-BE49-F238E27FC236}">
                <a16:creationId xmlns:a16="http://schemas.microsoft.com/office/drawing/2014/main" id="{67B1D479-9B4A-4061-B20A-5FFC0A2BC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267200"/>
            <a:ext cx="304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rPr>
              <a:t>Fixes legs, quantity and risk; MCP submits; SQLite restores state.</a:t>
            </a:r>
          </a:p>
        </p:txBody>
      </p:sp>
      <p:sp>
        <p:nvSpPr>
          <p:cNvPr id="17" name="boundary-rail">
            <a:extLst xmlns:a="http://schemas.openxmlformats.org/drawingml/2006/main">
              <a:ext uri="{FF2B5EF4-FFF2-40B4-BE49-F238E27FC236}">
                <a16:creationId xmlns:a16="http://schemas.microsoft.com/office/drawing/2014/main" id="{A5ABE425-8C7F-4E18-B4FD-B7DB23966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0"/>
            <a:ext cx="11391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oundary-copy">
            <a:extLst xmlns:a="http://schemas.openxmlformats.org/drawingml/2006/main">
              <a:ext uri="{FF2B5EF4-FFF2-40B4-BE49-F238E27FC236}">
                <a16:creationId xmlns:a16="http://schemas.microsoft.com/office/drawing/2014/main" id="{615D51DC-ECB2-4BA2-B091-F740F2417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19775"/>
            <a:ext cx="10915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Hard boundary: Qwen cannot change the symbol, strikes, quantity, loss cap, account, or authorization date.</a:t>
            </a:r>
          </a:p>
        </p:txBody>
      </p:sp>
    </p:spTree>
    <p:extLst>
      <p:ext uri="{BB962C8B-B14F-4D97-AF65-F5344CB8AC3E}">
        <p14:creationId xmlns:p14="http://schemas.microsoft.com/office/powerpoint/2010/main" val="18204341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-4">
            <a:extLst xmlns:a="http://schemas.openxmlformats.org/drawingml/2006/main">
              <a:ext uri="{FF2B5EF4-FFF2-40B4-BE49-F238E27FC236}">
                <a16:creationId xmlns:a16="http://schemas.microsoft.com/office/drawing/2014/main" id="{C501B3D1-9002-4044-81EB-7CCCC1F8D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B8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1B8F2"/>
                </a:solidFill>
                <a:latin typeface="Helvetica Neue"/>
                <a:ea typeface="Helvetica Neue"/>
                <a:cs typeface="Helvetica Neue"/>
              </a:rPr>
              <a:t>SAFETY + RELIABILITY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2B8F6B99-D276-4285-9FF4-B85F44B67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Autonomy stops where deterministic risk begins.</a:t>
            </a:r>
          </a:p>
        </p:txBody>
      </p:sp>
      <p:sp>
        <p:nvSpPr>
          <p:cNvPr id="3" name="slide-number-4">
            <a:extLst xmlns:a="http://schemas.openxmlformats.org/drawingml/2006/main">
              <a:ext uri="{FF2B5EF4-FFF2-40B4-BE49-F238E27FC236}">
                <a16:creationId xmlns:a16="http://schemas.microsoft.com/office/drawing/2014/main" id="{FBD52269-CBE8-47EC-860F-6CE367468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3412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2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26071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4" name="safety-intro">
            <a:extLst xmlns:a="http://schemas.openxmlformats.org/drawingml/2006/main">
              <a:ext uri="{FF2B5EF4-FFF2-40B4-BE49-F238E27FC236}">
                <a16:creationId xmlns:a16="http://schemas.microsoft.com/office/drawing/2014/main" id="{FA3304EB-915E-4249-B82C-D50A5BB5E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rPr>
              <a:t>Every entry must pass account identity, market schedule, event, data quality, liquidity, pricing, one-shot authorization and broker-flat gates.</a:t>
            </a:r>
          </a:p>
        </p:txBody>
      </p:sp>
      <p:sp>
        <p:nvSpPr>
          <p:cNvPr id="5" name="metric-panel-1">
            <a:extLst xmlns:a="http://schemas.openxmlformats.org/drawingml/2006/main">
              <a:ext uri="{FF2B5EF4-FFF2-40B4-BE49-F238E27FC236}">
                <a16:creationId xmlns:a16="http://schemas.microsoft.com/office/drawing/2014/main" id="{08313760-6B1F-46BB-A3CA-844C7AD57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00350"/>
            <a:ext cx="3333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etric-accent-1">
            <a:extLst xmlns:a="http://schemas.openxmlformats.org/drawingml/2006/main">
              <a:ext uri="{FF2B5EF4-FFF2-40B4-BE49-F238E27FC236}">
                <a16:creationId xmlns:a16="http://schemas.microsoft.com/office/drawing/2014/main" id="{5A46092C-A699-44AE-A5FB-5454A8FC8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00350"/>
            <a:ext cx="3333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etric-stat-1">
            <a:extLst xmlns:a="http://schemas.openxmlformats.org/drawingml/2006/main">
              <a:ext uri="{FF2B5EF4-FFF2-40B4-BE49-F238E27FC236}">
                <a16:creationId xmlns:a16="http://schemas.microsoft.com/office/drawing/2014/main" id="{C56E2942-348A-4581-9673-E371341E1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28003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$500</a:t>
            </a:r>
          </a:p>
        </p:txBody>
      </p:sp>
      <p:sp>
        <p:nvSpPr>
          <p:cNvPr id="8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9B24E898-24A8-40CA-88CD-88C9049A7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2800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Maximum loss</a:t>
            </a:r>
          </a:p>
        </p:txBody>
      </p:sp>
      <p:sp>
        <p:nvSpPr>
          <p:cNvPr id="9" name="metric-detail-1">
            <a:extLst xmlns:a="http://schemas.openxmlformats.org/drawingml/2006/main">
              <a:ext uri="{FF2B5EF4-FFF2-40B4-BE49-F238E27FC236}">
                <a16:creationId xmlns:a16="http://schemas.microsoft.com/office/drawing/2014/main" id="{3A12C501-F487-4FDF-ACED-67C430D20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19650"/>
            <a:ext cx="2800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26071"/>
                </a:solidFill>
                <a:latin typeface="Helvetica Neue"/>
                <a:ea typeface="Helvetica Neue"/>
                <a:cs typeface="Helvetica Neue"/>
              </a:rPr>
              <a:t>Also capped at 0.5% of account equity.</a:t>
            </a:r>
          </a:p>
        </p:txBody>
      </p:sp>
      <p:sp>
        <p:nvSpPr>
          <p:cNvPr id="10" name="metric-panel-2">
            <a:extLst xmlns:a="http://schemas.openxmlformats.org/drawingml/2006/main">
              <a:ext uri="{FF2B5EF4-FFF2-40B4-BE49-F238E27FC236}">
                <a16:creationId xmlns:a16="http://schemas.microsoft.com/office/drawing/2014/main" id="{A16C697E-9A6A-46E0-85A5-DCF2B2662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800350"/>
            <a:ext cx="3333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metric-accent-2">
            <a:extLst xmlns:a="http://schemas.openxmlformats.org/drawingml/2006/main">
              <a:ext uri="{FF2B5EF4-FFF2-40B4-BE49-F238E27FC236}">
                <a16:creationId xmlns:a16="http://schemas.microsoft.com/office/drawing/2014/main" id="{60A670C4-FF9E-4426-8BA6-D2A689176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800350"/>
            <a:ext cx="3333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7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metric-stat-2">
            <a:extLst xmlns:a="http://schemas.openxmlformats.org/drawingml/2006/main">
              <a:ext uri="{FF2B5EF4-FFF2-40B4-BE49-F238E27FC236}">
                <a16:creationId xmlns:a16="http://schemas.microsoft.com/office/drawing/2014/main" id="{67D78602-96C3-4295-AAB9-B5682B6DB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238500"/>
            <a:ext cx="28003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3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5695E72E-00F1-40F4-8608-067A899AE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267200"/>
            <a:ext cx="2800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Contract</a:t>
            </a:r>
          </a:p>
        </p:txBody>
      </p:sp>
      <p:sp>
        <p:nvSpPr>
          <p:cNvPr id="14" name="metric-detail-2">
            <a:extLst xmlns:a="http://schemas.openxmlformats.org/drawingml/2006/main">
              <a:ext uri="{FF2B5EF4-FFF2-40B4-BE49-F238E27FC236}">
                <a16:creationId xmlns:a16="http://schemas.microsoft.com/office/drawing/2014/main" id="{4BE8EE71-3372-4E8A-A46D-97F90796D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819650"/>
            <a:ext cx="2800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26071"/>
                </a:solidFill>
                <a:latin typeface="Helvetica Neue"/>
                <a:ea typeface="Helvetica Neue"/>
                <a:cs typeface="Helvetica Neue"/>
              </a:rPr>
              <a:t>One position at a time; no overlapping exposure.</a:t>
            </a:r>
          </a:p>
        </p:txBody>
      </p:sp>
      <p:sp>
        <p:nvSpPr>
          <p:cNvPr id="15" name="metric-panel-3">
            <a:extLst xmlns:a="http://schemas.openxmlformats.org/drawingml/2006/main">
              <a:ext uri="{FF2B5EF4-FFF2-40B4-BE49-F238E27FC236}">
                <a16:creationId xmlns:a16="http://schemas.microsoft.com/office/drawing/2014/main" id="{5CEBB96B-F56E-4F0E-BE92-6A57771FE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00350"/>
            <a:ext cx="3333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metric-accent-3">
            <a:extLst xmlns:a="http://schemas.openxmlformats.org/drawingml/2006/main">
              <a:ext uri="{FF2B5EF4-FFF2-40B4-BE49-F238E27FC236}">
                <a16:creationId xmlns:a16="http://schemas.microsoft.com/office/drawing/2014/main" id="{3F1041A8-32CF-4E69-9E1C-B0125E7B8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00350"/>
            <a:ext cx="3333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metric-stat-3">
            <a:extLst xmlns:a="http://schemas.openxmlformats.org/drawingml/2006/main">
              <a:ext uri="{FF2B5EF4-FFF2-40B4-BE49-F238E27FC236}">
                <a16:creationId xmlns:a16="http://schemas.microsoft.com/office/drawing/2014/main" id="{04CF980C-8934-433E-9E55-4E8039EF7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238500"/>
            <a:ext cx="28003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8" name="metric-label-3">
            <a:extLst xmlns:a="http://schemas.openxmlformats.org/drawingml/2006/main">
              <a:ext uri="{FF2B5EF4-FFF2-40B4-BE49-F238E27FC236}">
                <a16:creationId xmlns:a16="http://schemas.microsoft.com/office/drawing/2014/main" id="{6A744F61-454A-4014-9710-3315FF32A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267200"/>
            <a:ext cx="2800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Submission / date</a:t>
            </a:r>
          </a:p>
        </p:txBody>
      </p:sp>
      <p:sp>
        <p:nvSpPr>
          <p:cNvPr id="19" name="metric-detail-3">
            <a:extLst xmlns:a="http://schemas.openxmlformats.org/drawingml/2006/main">
              <a:ext uri="{FF2B5EF4-FFF2-40B4-BE49-F238E27FC236}">
                <a16:creationId xmlns:a16="http://schemas.microsoft.com/office/drawing/2014/main" id="{B69349F6-4D48-4AA5-A4ED-88902658D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819650"/>
            <a:ext cx="2800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26071"/>
                </a:solidFill>
                <a:latin typeface="Helvetica Neue"/>
                <a:ea typeface="Helvetica Neue"/>
                <a:cs typeface="Helvetica Neue"/>
              </a:rPr>
              <a:t>A broker submission consumes that day's authorization.</a:t>
            </a:r>
          </a:p>
        </p:txBody>
      </p:sp>
    </p:spTree>
    <p:extLst>
      <p:ext uri="{BB962C8B-B14F-4D97-AF65-F5344CB8AC3E}">
        <p14:creationId xmlns:p14="http://schemas.microsoft.com/office/powerpoint/2010/main" val="2137133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-5">
            <a:extLst xmlns:a="http://schemas.openxmlformats.org/drawingml/2006/main">
              <a:ext uri="{FF2B5EF4-FFF2-40B4-BE49-F238E27FC236}">
                <a16:creationId xmlns:a16="http://schemas.microsoft.com/office/drawing/2014/main" id="{B8380DC9-1B17-4694-977C-CED1EA8E5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B8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1B8F2"/>
                </a:solidFill>
                <a:latin typeface="Helvetica Neue"/>
                <a:ea typeface="Helvetica Neue"/>
                <a:cs typeface="Helvetica Neue"/>
              </a:rPr>
              <a:t>CURRENT EVIDENCE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8D25BEC2-3800-42CB-B0CF-218ECA10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The release shows evidence, including why it refused risk.</a:t>
            </a:r>
          </a:p>
        </p:txBody>
      </p:sp>
      <p:sp>
        <p:nvSpPr>
          <p:cNvPr id="3" name="slide-number-5">
            <a:extLst xmlns:a="http://schemas.openxmlformats.org/drawingml/2006/main">
              <a:ext uri="{FF2B5EF4-FFF2-40B4-BE49-F238E27FC236}">
                <a16:creationId xmlns:a16="http://schemas.microsoft.com/office/drawing/2014/main" id="{41260F2D-B55C-45B0-AF9B-AA21B5F99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3412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2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26071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4" name="evidence-intro">
            <a:extLst xmlns:a="http://schemas.openxmlformats.org/drawingml/2006/main">
              <a:ext uri="{FF2B5EF4-FFF2-40B4-BE49-F238E27FC236}">
                <a16:creationId xmlns:a16="http://schemas.microsoft.com/office/drawing/2014/main" id="{71C5FF19-436E-46CD-B60A-4E077BE77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rPr>
              <a:t>The submission reports broker-reconciled paper results only. It does not turn replay output, simulated fills, or a no-trade decision into a profitability claim.</a:t>
            </a:r>
          </a:p>
        </p:txBody>
      </p:sp>
      <p:sp>
        <p:nvSpPr>
          <p:cNvPr id="5" name="metric-panel-4">
            <a:extLst xmlns:a="http://schemas.openxmlformats.org/drawingml/2006/main">
              <a:ext uri="{FF2B5EF4-FFF2-40B4-BE49-F238E27FC236}">
                <a16:creationId xmlns:a16="http://schemas.microsoft.com/office/drawing/2014/main" id="{05518AD3-8D62-473C-8CFA-964973961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00350"/>
            <a:ext cx="3333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etric-accent-4">
            <a:extLst xmlns:a="http://schemas.openxmlformats.org/drawingml/2006/main">
              <a:ext uri="{FF2B5EF4-FFF2-40B4-BE49-F238E27FC236}">
                <a16:creationId xmlns:a16="http://schemas.microsoft.com/office/drawing/2014/main" id="{8E33538D-7D81-41D6-A996-B41435D17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00350"/>
            <a:ext cx="3333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etric-stat-4">
            <a:extLst xmlns:a="http://schemas.openxmlformats.org/drawingml/2006/main">
              <a:ext uri="{FF2B5EF4-FFF2-40B4-BE49-F238E27FC236}">
                <a16:creationId xmlns:a16="http://schemas.microsoft.com/office/drawing/2014/main" id="{4AC4A909-3BB4-4600-B0CA-8A464D1CF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28003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181</a:t>
            </a:r>
          </a:p>
        </p:txBody>
      </p:sp>
      <p:sp>
        <p:nvSpPr>
          <p:cNvPr id="8" name="metric-label-4">
            <a:extLst xmlns:a="http://schemas.openxmlformats.org/drawingml/2006/main">
              <a:ext uri="{FF2B5EF4-FFF2-40B4-BE49-F238E27FC236}">
                <a16:creationId xmlns:a16="http://schemas.microsoft.com/office/drawing/2014/main" id="{1FC5DCD3-6B0C-4226-9968-926A7C5DF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2800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Automated tests</a:t>
            </a:r>
          </a:p>
        </p:txBody>
      </p:sp>
      <p:sp>
        <p:nvSpPr>
          <p:cNvPr id="9" name="metric-detail-4">
            <a:extLst xmlns:a="http://schemas.openxmlformats.org/drawingml/2006/main">
              <a:ext uri="{FF2B5EF4-FFF2-40B4-BE49-F238E27FC236}">
                <a16:creationId xmlns:a16="http://schemas.microsoft.com/office/drawing/2014/main" id="{F72385AC-BFB3-46EC-B2B4-360B7A052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19650"/>
            <a:ext cx="2800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26071"/>
                </a:solidFill>
                <a:latin typeface="Helvetica Neue"/>
                <a:ea typeface="Helvetica Neue"/>
                <a:cs typeface="Helvetica Neue"/>
              </a:rPr>
              <a:t>The integrated release covers public mode and read-only smoke.</a:t>
            </a:r>
          </a:p>
        </p:txBody>
      </p:sp>
      <p:sp>
        <p:nvSpPr>
          <p:cNvPr id="10" name="metric-panel-5">
            <a:extLst xmlns:a="http://schemas.openxmlformats.org/drawingml/2006/main">
              <a:ext uri="{FF2B5EF4-FFF2-40B4-BE49-F238E27FC236}">
                <a16:creationId xmlns:a16="http://schemas.microsoft.com/office/drawing/2014/main" id="{CFE0AA35-0A09-434A-83E6-5D5E7F2FA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800350"/>
            <a:ext cx="3333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metric-accent-5">
            <a:extLst xmlns:a="http://schemas.openxmlformats.org/drawingml/2006/main">
              <a:ext uri="{FF2B5EF4-FFF2-40B4-BE49-F238E27FC236}">
                <a16:creationId xmlns:a16="http://schemas.microsoft.com/office/drawing/2014/main" id="{E39A3C64-1806-43AE-ACBE-145882CC0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800350"/>
            <a:ext cx="3333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7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metric-stat-5">
            <a:extLst xmlns:a="http://schemas.openxmlformats.org/drawingml/2006/main">
              <a:ext uri="{FF2B5EF4-FFF2-40B4-BE49-F238E27FC236}">
                <a16:creationId xmlns:a16="http://schemas.microsoft.com/office/drawing/2014/main" id="{3A3034ED-90D8-4D07-983D-674580271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238500"/>
            <a:ext cx="28003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13" name="metric-label-5">
            <a:extLst xmlns:a="http://schemas.openxmlformats.org/drawingml/2006/main">
              <a:ext uri="{FF2B5EF4-FFF2-40B4-BE49-F238E27FC236}">
                <a16:creationId xmlns:a16="http://schemas.microsoft.com/office/drawing/2014/main" id="{820A8370-E134-4841-A63D-FD401A240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267200"/>
            <a:ext cx="2800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Eligible events</a:t>
            </a:r>
          </a:p>
        </p:txBody>
      </p:sp>
      <p:sp>
        <p:nvSpPr>
          <p:cNvPr id="14" name="metric-detail-5">
            <a:extLst xmlns:a="http://schemas.openxmlformats.org/drawingml/2006/main">
              <a:ext uri="{FF2B5EF4-FFF2-40B4-BE49-F238E27FC236}">
                <a16:creationId xmlns:a16="http://schemas.microsoft.com/office/drawing/2014/main" id="{CF92E8E4-A88C-4B5F-B497-7547532AD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819650"/>
            <a:ext cx="2800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26071"/>
                </a:solidFill>
                <a:latin typeface="Helvetica Neue"/>
                <a:ea typeface="Helvetica Neue"/>
                <a:cs typeface="Helvetica Neue"/>
              </a:rPr>
              <a:t>Four Sep 1 and three Sep 2 after-close candidates.</a:t>
            </a:r>
          </a:p>
        </p:txBody>
      </p:sp>
      <p:sp>
        <p:nvSpPr>
          <p:cNvPr id="15" name="metric-panel-6">
            <a:extLst xmlns:a="http://schemas.openxmlformats.org/drawingml/2006/main">
              <a:ext uri="{FF2B5EF4-FFF2-40B4-BE49-F238E27FC236}">
                <a16:creationId xmlns:a16="http://schemas.microsoft.com/office/drawing/2014/main" id="{4437E13C-D011-4212-9914-B6694B971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00350"/>
            <a:ext cx="3333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metric-accent-6">
            <a:extLst xmlns:a="http://schemas.openxmlformats.org/drawingml/2006/main">
              <a:ext uri="{FF2B5EF4-FFF2-40B4-BE49-F238E27FC236}">
                <a16:creationId xmlns:a16="http://schemas.microsoft.com/office/drawing/2014/main" id="{81211977-97B3-4956-B694-77C4D5EA4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00350"/>
            <a:ext cx="3333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metric-stat-6">
            <a:extLst xmlns:a="http://schemas.openxmlformats.org/drawingml/2006/main">
              <a:ext uri="{FF2B5EF4-FFF2-40B4-BE49-F238E27FC236}">
                <a16:creationId xmlns:a16="http://schemas.microsoft.com/office/drawing/2014/main" id="{330A69ED-57C0-46DC-9813-41AFD151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238500"/>
            <a:ext cx="28003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8" name="metric-label-6">
            <a:extLst xmlns:a="http://schemas.openxmlformats.org/drawingml/2006/main">
              <a:ext uri="{FF2B5EF4-FFF2-40B4-BE49-F238E27FC236}">
                <a16:creationId xmlns:a16="http://schemas.microsoft.com/office/drawing/2014/main" id="{F6648B0D-C183-4D03-9DBF-01AED0D2F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267200"/>
            <a:ext cx="2800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Explicit exclusions</a:t>
            </a:r>
          </a:p>
        </p:txBody>
      </p:sp>
      <p:sp>
        <p:nvSpPr>
          <p:cNvPr id="19" name="metric-detail-6">
            <a:extLst xmlns:a="http://schemas.openxmlformats.org/drawingml/2006/main">
              <a:ext uri="{FF2B5EF4-FFF2-40B4-BE49-F238E27FC236}">
                <a16:creationId xmlns:a16="http://schemas.microsoft.com/office/drawing/2014/main" id="{4FF0C86E-10AF-480D-A6D7-07F14AC77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819650"/>
            <a:ext cx="2800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26071"/>
                </a:solidFill>
                <a:latin typeface="Helvetica Neue"/>
                <a:ea typeface="Helvetica Neue"/>
                <a:cs typeface="Helvetica Neue"/>
              </a:rPr>
              <a:t>Ambiguous timing and unavailable weekly expirations fail closed.</a:t>
            </a:r>
          </a:p>
        </p:txBody>
      </p:sp>
      <p:sp>
        <p:nvSpPr>
          <p:cNvPr id="20" name="evidence-footer">
            <a:extLst xmlns:a="http://schemas.openxmlformats.org/drawingml/2006/main">
              <a:ext uri="{FF2B5EF4-FFF2-40B4-BE49-F238E27FC236}">
                <a16:creationId xmlns:a16="http://schemas.microsoft.com/office/drawing/2014/main" id="{AAFC8D7A-8D21-4B13-8F29-D49D91484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Final equity and P&amp;L are read from Alpaca and displayed on the live dashboard after reconciliation.</a:t>
            </a:r>
          </a:p>
        </p:txBody>
      </p:sp>
    </p:spTree>
    <p:extLst>
      <p:ext uri="{BB962C8B-B14F-4D97-AF65-F5344CB8AC3E}">
        <p14:creationId xmlns:p14="http://schemas.microsoft.com/office/powerpoint/2010/main" val="11467198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-6">
            <a:extLst xmlns:a="http://schemas.openxmlformats.org/drawingml/2006/main">
              <a:ext uri="{FF2B5EF4-FFF2-40B4-BE49-F238E27FC236}">
                <a16:creationId xmlns:a16="http://schemas.microsoft.com/office/drawing/2014/main" id="{0E95C45E-FAF2-4809-88A1-F2998E270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B8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1B8F2"/>
                </a:solidFill>
                <a:latin typeface="Helvetica Neue"/>
                <a:ea typeface="Helvetica Neue"/>
                <a:cs typeface="Helvetica Neue"/>
              </a:rPr>
              <a:t>FUTURE ROADMAP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DFBC1200-CFE5-4267-BF38-7698917CD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Next: better evidence, with the same hard boundaries.</a:t>
            </a:r>
          </a:p>
        </p:txBody>
      </p:sp>
      <p:sp>
        <p:nvSpPr>
          <p:cNvPr id="3" name="slide-number-6">
            <a:extLst xmlns:a="http://schemas.openxmlformats.org/drawingml/2006/main">
              <a:ext uri="{FF2B5EF4-FFF2-40B4-BE49-F238E27FC236}">
                <a16:creationId xmlns:a16="http://schemas.microsoft.com/office/drawing/2014/main" id="{386A1C26-1EC2-477F-AD5E-98EFC3AF6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3412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2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26071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4" name="future-line">
            <a:extLst xmlns:a="http://schemas.openxmlformats.org/drawingml/2006/main">
              <a:ext uri="{FF2B5EF4-FFF2-40B4-BE49-F238E27FC236}">
                <a16:creationId xmlns:a16="http://schemas.microsoft.com/office/drawing/2014/main" id="{E76BC51D-A335-4EC8-B31F-EEBF9AC95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0040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7111F"/>
            </a:solidFill>
            <a:prstDash val="solid"/>
          </a:ln>
        </p:spPr>
      </p:sp>
      <p:sp>
        <p:nvSpPr>
          <p:cNvPr id="5" name="future-node-0">
            <a:extLst xmlns:a="http://schemas.openxmlformats.org/drawingml/2006/main">
              <a:ext uri="{FF2B5EF4-FFF2-40B4-BE49-F238E27FC236}">
                <a16:creationId xmlns:a16="http://schemas.microsoft.com/office/drawing/2014/main" id="{89839757-3374-4B74-9845-B2F6EBB35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146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F2"/>
          </a:solidFill>
          <a:ln xmlns:a="http://schemas.openxmlformats.org/drawingml/2006/main" w="0">
            <a:solidFill>
              <a:srgbClr val="11B8F2"/>
            </a:solidFill>
            <a:prstDash val="solid"/>
          </a:ln>
        </p:spPr>
      </p:sp>
      <p:sp>
        <p:nvSpPr>
          <p:cNvPr id="6" name="future-label-0">
            <a:extLst xmlns:a="http://schemas.openxmlformats.org/drawingml/2006/main">
              <a:ext uri="{FF2B5EF4-FFF2-40B4-BE49-F238E27FC236}">
                <a16:creationId xmlns:a16="http://schemas.microsoft.com/office/drawing/2014/main" id="{0984C10A-F4FF-40D5-9BC8-75AABF65B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B8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1B8F2"/>
                </a:solidFill>
                <a:latin typeface="Helvetica Neue"/>
                <a:ea typeface="Helvetica Neue"/>
                <a:cs typeface="Helvetica Neue"/>
              </a:rPr>
              <a:t>DATA</a:t>
            </a:r>
          </a:p>
        </p:txBody>
      </p:sp>
      <p:sp>
        <p:nvSpPr>
          <p:cNvPr id="7" name="future-title-0">
            <a:extLst xmlns:a="http://schemas.openxmlformats.org/drawingml/2006/main">
              <a:ext uri="{FF2B5EF4-FFF2-40B4-BE49-F238E27FC236}">
                <a16:creationId xmlns:a16="http://schemas.microsoft.com/office/drawing/2014/main" id="{2B934713-9412-4EC7-94EB-3157D7CF7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OPRA feed</a:t>
            </a:r>
          </a:p>
        </p:txBody>
      </p:sp>
      <p:sp>
        <p:nvSpPr>
          <p:cNvPr id="8" name="future-body-0">
            <a:extLst xmlns:a="http://schemas.openxmlformats.org/drawingml/2006/main">
              <a:ext uri="{FF2B5EF4-FFF2-40B4-BE49-F238E27FC236}">
                <a16:creationId xmlns:a16="http://schemas.microsoft.com/office/drawing/2014/main" id="{D0181E02-EA26-4A18-A6DE-DB7B9A366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67200"/>
            <a:ext cx="304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rPr>
              <a:t>Replace indicative quotes with consolidated options data and richer liquidity checks.</a:t>
            </a:r>
          </a:p>
        </p:txBody>
      </p:sp>
      <p:sp>
        <p:nvSpPr>
          <p:cNvPr id="9" name="future-node-1">
            <a:extLst xmlns:a="http://schemas.openxmlformats.org/drawingml/2006/main">
              <a:ext uri="{FF2B5EF4-FFF2-40B4-BE49-F238E27FC236}">
                <a16:creationId xmlns:a16="http://schemas.microsoft.com/office/drawing/2014/main" id="{45887ED3-03B8-4615-AD21-5C93DC197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1146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A71A"/>
          </a:solidFill>
          <a:ln xmlns:a="http://schemas.openxmlformats.org/drawingml/2006/main" w="0">
            <a:solidFill>
              <a:srgbClr val="F3A71A"/>
            </a:solidFill>
            <a:prstDash val="solid"/>
          </a:ln>
        </p:spPr>
      </p:sp>
      <p:sp>
        <p:nvSpPr>
          <p:cNvPr id="10" name="future-label-1">
            <a:extLst xmlns:a="http://schemas.openxmlformats.org/drawingml/2006/main">
              <a:ext uri="{FF2B5EF4-FFF2-40B4-BE49-F238E27FC236}">
                <a16:creationId xmlns:a16="http://schemas.microsoft.com/office/drawing/2014/main" id="{0B459F7B-16EC-4567-A9C9-ACA364639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6289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B8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1B8F2"/>
                </a:solidFill>
                <a:latin typeface="Helvetica Neue"/>
                <a:ea typeface="Helvetica Neue"/>
                <a:cs typeface="Helvetica Neue"/>
              </a:rPr>
              <a:t>VALIDATION</a:t>
            </a:r>
          </a:p>
        </p:txBody>
      </p:sp>
      <p:sp>
        <p:nvSpPr>
          <p:cNvPr id="11" name="future-title-1">
            <a:extLst xmlns:a="http://schemas.openxmlformats.org/drawingml/2006/main">
              <a:ext uri="{FF2B5EF4-FFF2-40B4-BE49-F238E27FC236}">
                <a16:creationId xmlns:a16="http://schemas.microsoft.com/office/drawing/2014/main" id="{2B374A48-10CD-4D84-AFB2-806E296A5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6766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Causal replay</a:t>
            </a:r>
          </a:p>
        </p:txBody>
      </p:sp>
      <p:sp>
        <p:nvSpPr>
          <p:cNvPr id="12" name="future-body-1">
            <a:extLst xmlns:a="http://schemas.openxmlformats.org/drawingml/2006/main">
              <a:ext uri="{FF2B5EF4-FFF2-40B4-BE49-F238E27FC236}">
                <a16:creationId xmlns:a16="http://schemas.microsoft.com/office/drawing/2014/main" id="{A9489A3C-9528-4F5C-803C-46D280860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267200"/>
            <a:ext cx="304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rPr>
              <a:t>Evaluate a larger event sample with exact-minute evidence and realistic costs.</a:t>
            </a:r>
          </a:p>
        </p:txBody>
      </p:sp>
      <p:sp>
        <p:nvSpPr>
          <p:cNvPr id="13" name="future-node-2">
            <a:extLst xmlns:a="http://schemas.openxmlformats.org/drawingml/2006/main">
              <a:ext uri="{FF2B5EF4-FFF2-40B4-BE49-F238E27FC236}">
                <a16:creationId xmlns:a16="http://schemas.microsoft.com/office/drawing/2014/main" id="{CF24F008-3BE7-4AFF-AFF1-2DB80B84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1146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F2"/>
          </a:solidFill>
          <a:ln xmlns:a="http://schemas.openxmlformats.org/drawingml/2006/main" w="0">
            <a:solidFill>
              <a:srgbClr val="11B8F2"/>
            </a:solidFill>
            <a:prstDash val="solid"/>
          </a:ln>
        </p:spPr>
      </p:sp>
      <p:sp>
        <p:nvSpPr>
          <p:cNvPr id="14" name="future-label-2">
            <a:extLst xmlns:a="http://schemas.openxmlformats.org/drawingml/2006/main">
              <a:ext uri="{FF2B5EF4-FFF2-40B4-BE49-F238E27FC236}">
                <a16:creationId xmlns:a16="http://schemas.microsoft.com/office/drawing/2014/main" id="{3F675B5D-28F5-4695-A7DA-DCA62E9BE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289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B8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1B8F2"/>
                </a:solidFill>
                <a:latin typeface="Helvetica Neue"/>
                <a:ea typeface="Helvetica Neue"/>
                <a:cs typeface="Helvetica Neue"/>
              </a:rPr>
              <a:t>MODEL</a:t>
            </a:r>
          </a:p>
        </p:txBody>
      </p:sp>
      <p:sp>
        <p:nvSpPr>
          <p:cNvPr id="15" name="future-title-2">
            <a:extLst xmlns:a="http://schemas.openxmlformats.org/drawingml/2006/main">
              <a:ext uri="{FF2B5EF4-FFF2-40B4-BE49-F238E27FC236}">
                <a16:creationId xmlns:a16="http://schemas.microsoft.com/office/drawing/2014/main" id="{9A2AD65A-2BA4-4AB2-A563-14346BAC9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6766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Volatility forecast</a:t>
            </a:r>
          </a:p>
        </p:txBody>
      </p:sp>
      <p:sp>
        <p:nvSpPr>
          <p:cNvPr id="16" name="future-body-2">
            <a:extLst xmlns:a="http://schemas.openxmlformats.org/drawingml/2006/main">
              <a:ext uri="{FF2B5EF4-FFF2-40B4-BE49-F238E27FC236}">
                <a16:creationId xmlns:a16="http://schemas.microsoft.com/office/drawing/2014/main" id="{01B9BE68-9813-4331-851C-FA96D0BEF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267200"/>
            <a:ext cx="304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rPr>
              <a:t>Compare implied pricing with a stronger realized-move forecast across more events.</a:t>
            </a:r>
          </a:p>
        </p:txBody>
      </p:sp>
      <p:sp>
        <p:nvSpPr>
          <p:cNvPr id="17" name="closing-line">
            <a:extLst xmlns:a="http://schemas.openxmlformats.org/drawingml/2006/main">
              <a:ext uri="{FF2B5EF4-FFF2-40B4-BE49-F238E27FC236}">
                <a16:creationId xmlns:a16="http://schemas.microsoft.com/office/drawing/2014/main" id="{784598C3-9001-4F23-992D-824A9D361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721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ThetaTrap's goal is not unconstrained intelligence. It is accountable autonomy.</a:t>
            </a:r>
          </a:p>
        </p:txBody>
      </p:sp>
    </p:spTree>
    <p:extLst>
      <p:ext uri="{BB962C8B-B14F-4D97-AF65-F5344CB8AC3E}">
        <p14:creationId xmlns:p14="http://schemas.microsoft.com/office/powerpoint/2010/main" val="10220781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2026-08-31T05:00:17.3250000Z</dcterms:created>
  <dcterms:modified xsi:type="dcterms:W3CDTF">2026-08-31T05:00:17.3250000Z</dcterms:modified>
</coreProperties>
</file>